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95" r:id="rId3"/>
    <p:sldId id="290" r:id="rId4"/>
    <p:sldId id="292" r:id="rId5"/>
    <p:sldId id="297" r:id="rId6"/>
    <p:sldId id="298" r:id="rId7"/>
    <p:sldId id="293" r:id="rId8"/>
    <p:sldId id="299" r:id="rId9"/>
    <p:sldId id="300" r:id="rId10"/>
    <p:sldId id="303" r:id="rId11"/>
    <p:sldId id="301" r:id="rId12"/>
    <p:sldId id="302"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3A380-F68D-4B97-8CF0-04FACEB71A64}" v="8" dt="2026-02-16T10:00:04.3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36" autoAdjust="0"/>
    <p:restoredTop sz="95033" autoAdjust="0"/>
  </p:normalViewPr>
  <p:slideViewPr>
    <p:cSldViewPr>
      <p:cViewPr varScale="1">
        <p:scale>
          <a:sx n="127" d="100"/>
          <a:sy n="127" d="100"/>
        </p:scale>
        <p:origin x="448" y="184"/>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4/3/26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4/3/26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cccanvas-upv/pic-upv-lab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0.png"/><Relationship Id="rId7"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NUL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Sergi Pla Torró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s-ES" dirty="0">
                <a:hlinkClick r:id="rId4"/>
              </a:rPr>
              <a:t>cccanvas-upv/pic-upv-lab1</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Convergence tests</a:t>
            </a:r>
            <a:br>
              <a:rPr lang="en-US" sz="2500" dirty="0"/>
            </a:br>
            <a:r>
              <a:rPr lang="nl-NL" b="0" dirty="0"/>
              <a:t>DE waveguide, w = 1.2 µm, neff_TE0, wvl 1.55 µm. </a:t>
            </a: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6" name="Rectángulo 5">
            <a:extLst>
              <a:ext uri="{FF2B5EF4-FFF2-40B4-BE49-F238E27FC236}">
                <a16:creationId xmlns:a16="http://schemas.microsoft.com/office/drawing/2014/main" id="{067C6D40-33EE-D9BE-7F58-8D96221D0D59}"/>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53A5ECC9-91D2-2918-1681-822F99EB31CD}"/>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grid_resolution</a:t>
            </a:r>
            <a:r>
              <a:rPr lang="en-US" dirty="0"/>
              <a:t> plot here</a:t>
            </a:r>
          </a:p>
        </p:txBody>
      </p:sp>
      <p:sp>
        <p:nvSpPr>
          <p:cNvPr id="10" name="CuadroTexto 9">
            <a:extLst>
              <a:ext uri="{FF2B5EF4-FFF2-40B4-BE49-F238E27FC236}">
                <a16:creationId xmlns:a16="http://schemas.microsoft.com/office/drawing/2014/main" id="{C814CDD6-2B59-8488-4EB8-82801B4D3F22}"/>
              </a:ext>
            </a:extLst>
          </p:cNvPr>
          <p:cNvSpPr txBox="1"/>
          <p:nvPr/>
        </p:nvSpPr>
        <p:spPr>
          <a:xfrm>
            <a:off x="609441" y="486033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estable</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1.605, </a:t>
            </a:r>
            <a:r>
              <a:rPr lang="en-US" sz="1200" dirty="0" err="1">
                <a:latin typeface="Arial" panose="020B0604020202020204" pitchFamily="34" charset="0"/>
                <a:cs typeface="Arial" panose="020B0604020202020204" pitchFamily="34" charset="0"/>
              </a:rPr>
              <a:t>viendo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malla</a:t>
            </a:r>
            <a:r>
              <a:rPr lang="en-US" sz="1200" dirty="0">
                <a:latin typeface="Arial" panose="020B0604020202020204" pitchFamily="34" charset="0"/>
                <a:cs typeface="Arial" panose="020B0604020202020204" pitchFamily="34" charset="0"/>
              </a:rPr>
              <a:t> de 20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ese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suficiente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calcular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segunda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proporcionando</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tiempo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razonable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malla</a:t>
            </a:r>
            <a:r>
              <a:rPr lang="en-US" sz="1200" dirty="0">
                <a:latin typeface="Arial" panose="020B0604020202020204" pitchFamily="34" charset="0"/>
                <a:cs typeface="Arial" panose="020B0604020202020204" pitchFamily="34" charset="0"/>
              </a:rPr>
              <a:t> de 50 </a:t>
            </a:r>
            <a:r>
              <a:rPr lang="en-US" sz="1200" dirty="0" err="1">
                <a:latin typeface="Arial" panose="020B0604020202020204" pitchFamily="34" charset="0"/>
                <a:cs typeface="Arial" panose="020B0604020202020204" pitchFamily="34" charset="0"/>
              </a:rPr>
              <a:t>sería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estabiliza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valor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20,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valor </a:t>
            </a:r>
            <a:r>
              <a:rPr lang="en-US" sz="1200" dirty="0" err="1">
                <a:latin typeface="Arial" panose="020B0604020202020204" pitchFamily="34" charset="0"/>
                <a:cs typeface="Arial" panose="020B0604020202020204" pitchFamily="34" charset="0"/>
              </a:rPr>
              <a:t>sería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escogido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garantizar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tiempo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estable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grid scaling </a:t>
            </a:r>
            <a:r>
              <a:rPr lang="en-US" sz="1200" dirty="0" err="1">
                <a:latin typeface="Arial" panose="020B0604020202020204" pitchFamily="34" charset="0"/>
                <a:cs typeface="Arial" panose="020B0604020202020204" pitchFamily="34" charset="0"/>
              </a:rPr>
              <a:t>escogeriamos</a:t>
            </a:r>
            <a:r>
              <a:rPr lang="en-US" sz="1200" dirty="0">
                <a:latin typeface="Arial" panose="020B0604020202020204" pitchFamily="34" charset="0"/>
                <a:cs typeface="Arial" panose="020B0604020202020204" pitchFamily="34" charset="0"/>
              </a:rPr>
              <a:t> un valor de 1.5,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estabiliza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2" name="Rectángulo 1">
            <a:extLst>
              <a:ext uri="{FF2B5EF4-FFF2-40B4-BE49-F238E27FC236}">
                <a16:creationId xmlns:a16="http://schemas.microsoft.com/office/drawing/2014/main" id="{029F2FF9-FEB4-7AA3-B3B4-EFA9CFA0E230}"/>
              </a:ext>
            </a:extLst>
          </p:cNvPr>
          <p:cNvSpPr/>
          <p:nvPr/>
        </p:nvSpPr>
        <p:spPr>
          <a:xfrm>
            <a:off x="6322853"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C2C94B57-6111-4070-F6BA-8C3B9C305618}"/>
              </a:ext>
            </a:extLst>
          </p:cNvPr>
          <p:cNvSpPr txBox="1"/>
          <p:nvPr/>
        </p:nvSpPr>
        <p:spPr>
          <a:xfrm>
            <a:off x="6792815" y="2698951"/>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max_grid_scaling</a:t>
            </a:r>
            <a:r>
              <a:rPr lang="en-US" dirty="0"/>
              <a:t> plot here</a:t>
            </a:r>
          </a:p>
        </p:txBody>
      </p:sp>
      <p:pic>
        <p:nvPicPr>
          <p:cNvPr id="5" name="Imagen 4">
            <a:extLst>
              <a:ext uri="{FF2B5EF4-FFF2-40B4-BE49-F238E27FC236}">
                <a16:creationId xmlns:a16="http://schemas.microsoft.com/office/drawing/2014/main" id="{32177706-371A-BA79-DD95-AC21362D5A10}"/>
              </a:ext>
            </a:extLst>
          </p:cNvPr>
          <p:cNvPicPr>
            <a:picLocks noChangeAspect="1"/>
          </p:cNvPicPr>
          <p:nvPr/>
        </p:nvPicPr>
        <p:blipFill>
          <a:blip r:embed="rId5"/>
          <a:stretch>
            <a:fillRect/>
          </a:stretch>
        </p:blipFill>
        <p:spPr>
          <a:xfrm>
            <a:off x="1251622" y="1479274"/>
            <a:ext cx="4202196" cy="3266776"/>
          </a:xfrm>
          <a:prstGeom prst="rect">
            <a:avLst/>
          </a:prstGeom>
        </p:spPr>
      </p:pic>
      <p:pic>
        <p:nvPicPr>
          <p:cNvPr id="7" name="Imagen 6">
            <a:extLst>
              <a:ext uri="{FF2B5EF4-FFF2-40B4-BE49-F238E27FC236}">
                <a16:creationId xmlns:a16="http://schemas.microsoft.com/office/drawing/2014/main" id="{40E53614-C0D6-C511-88E2-1E307B15FB56}"/>
              </a:ext>
            </a:extLst>
          </p:cNvPr>
          <p:cNvPicPr>
            <a:picLocks noChangeAspect="1"/>
          </p:cNvPicPr>
          <p:nvPr/>
        </p:nvPicPr>
        <p:blipFill>
          <a:blip r:embed="rId6"/>
          <a:stretch>
            <a:fillRect/>
          </a:stretch>
        </p:blipFill>
        <p:spPr>
          <a:xfrm>
            <a:off x="6939532" y="1479274"/>
            <a:ext cx="4253199" cy="3261744"/>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dirty="0"/>
              <a:t>LAB 0.1. MODESOLVER</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5867400" y="1423569"/>
            <a:ext cx="6007328" cy="452431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(neff changes this way with width, polarization behavior, </a:t>
            </a:r>
            <a:r>
              <a:rPr lang="en-US" sz="1200" b="1" dirty="0" err="1">
                <a:latin typeface="Arial" panose="020B0604020202020204" pitchFamily="34" charset="0"/>
                <a:cs typeface="Arial" panose="020B0604020202020204" pitchFamily="34" charset="0"/>
              </a:rPr>
              <a:t>etc</a:t>
            </a:r>
            <a:r>
              <a:rPr lang="en-US" sz="1200" b="1" dirty="0">
                <a:latin typeface="Arial" panose="020B0604020202020204" pitchFamily="34" charset="0"/>
                <a:cs typeface="Arial" panose="020B0604020202020204" pitchFamily="34" charset="0"/>
              </a:rPr>
              <a:t>…)</a:t>
            </a:r>
          </a:p>
          <a:p>
            <a:pPr algn="just"/>
            <a:endParaRPr lang="en-US" sz="1200" b="1" dirty="0">
              <a:latin typeface="Arial" panose="020B0604020202020204" pitchFamily="34" charset="0"/>
              <a:cs typeface="Arial" panose="020B0604020202020204" pitchFamily="34" charset="0"/>
            </a:endParaRPr>
          </a:p>
          <a:p>
            <a:pPr algn="just"/>
            <a:r>
              <a:rPr lang="en-US" sz="1200" b="1" dirty="0" err="1">
                <a:latin typeface="Arial" panose="020B0604020202020204" pitchFamily="34" charset="0"/>
                <a:cs typeface="Arial" panose="020B0604020202020204" pitchFamily="34" charset="0"/>
              </a:rPr>
              <a:t>Ejecutado</a:t>
            </a:r>
            <a:r>
              <a:rPr lang="en-US" sz="1200" b="1" dirty="0">
                <a:latin typeface="Arial" panose="020B0604020202020204" pitchFamily="34" charset="0"/>
                <a:cs typeface="Arial" panose="020B0604020202020204" pitchFamily="34" charset="0"/>
              </a:rPr>
              <a:t> con </a:t>
            </a:r>
            <a:r>
              <a:rPr lang="en-US" sz="1200" b="1" dirty="0" err="1">
                <a:latin typeface="Arial" panose="020B0604020202020204" pitchFamily="34" charset="0"/>
                <a:cs typeface="Arial" panose="020B0604020202020204" pitchFamily="34" charset="0"/>
              </a:rPr>
              <a:t>max_grid_scaling</a:t>
            </a:r>
            <a:r>
              <a:rPr lang="en-US" sz="1200" b="1" dirty="0">
                <a:latin typeface="Arial" panose="020B0604020202020204" pitchFamily="34" charset="0"/>
                <a:cs typeface="Arial" panose="020B0604020202020204" pitchFamily="34" charset="0"/>
              </a:rPr>
              <a:t> = 1.5 y </a:t>
            </a:r>
            <a:r>
              <a:rPr lang="en-US" sz="1200" b="1" dirty="0" err="1">
                <a:latin typeface="Arial" panose="020B0604020202020204" pitchFamily="34" charset="0"/>
                <a:cs typeface="Arial" panose="020B0604020202020204" pitchFamily="34" charset="0"/>
              </a:rPr>
              <a:t>grid_resolution</a:t>
            </a:r>
            <a:r>
              <a:rPr lang="en-US" sz="1200" b="1" dirty="0">
                <a:latin typeface="Arial" panose="020B0604020202020204" pitchFamily="34" charset="0"/>
                <a:cs typeface="Arial" panose="020B0604020202020204" pitchFamily="34" charset="0"/>
              </a:rPr>
              <a:t> = 20.</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Cuando </a:t>
            </a:r>
            <a:r>
              <a:rPr lang="en-US" sz="1200" dirty="0" err="1">
                <a:latin typeface="Arial" panose="020B0604020202020204" pitchFamily="34" charset="0"/>
                <a:cs typeface="Arial" panose="020B0604020202020204" pitchFamily="34" charset="0"/>
              </a:rPr>
              <a:t>aumentamos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también lo </a:t>
            </a:r>
            <a:r>
              <a:rPr lang="en-US" sz="1200" dirty="0" err="1">
                <a:latin typeface="Arial" panose="020B0604020202020204" pitchFamily="34" charset="0"/>
                <a:cs typeface="Arial" panose="020B0604020202020204" pitchFamily="34" charset="0"/>
              </a:rPr>
              <a:t>hacen</a:t>
            </a:r>
            <a:r>
              <a:rPr lang="en-US" sz="1200" dirty="0">
                <a:latin typeface="Arial" panose="020B0604020202020204" pitchFamily="34" charset="0"/>
                <a:cs typeface="Arial" panose="020B0604020202020204" pitchFamily="34" charset="0"/>
              </a:rPr>
              <a:t>. Esto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a:t>
            </a:r>
            <a:r>
              <a:rPr lang="en-US" sz="1200" dirty="0">
                <a:latin typeface="Arial" panose="020B0604020202020204" pitchFamily="34" charset="0"/>
                <a:cs typeface="Arial" panose="020B0604020202020204" pitchFamily="34" charset="0"/>
              </a:rPr>
              <a:t> major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campo </a:t>
            </a:r>
            <a:r>
              <a:rPr lang="en-US" sz="1200" dirty="0" err="1">
                <a:latin typeface="Arial" panose="020B0604020202020204" pitchFamily="34" charset="0"/>
                <a:cs typeface="Arial" panose="020B0604020202020204" pitchFamily="34" charset="0"/>
              </a:rPr>
              <a:t>dentro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mayor), </a:t>
            </a:r>
            <a:r>
              <a:rPr lang="en-US" sz="1200" dirty="0" err="1">
                <a:latin typeface="Arial" panose="020B0604020202020204" pitchFamily="34" charset="0"/>
                <a:cs typeface="Arial" panose="020B0604020202020204" pitchFamily="34" charset="0"/>
              </a:rPr>
              <a:t>reduciendo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así</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viaja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forma,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acercándose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modo TE fundamental (Mode 0) es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sensible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cambios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e modo TM (Mode 1). Esto es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campo del modo TE al ser horizontal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mayor </a:t>
            </a:r>
            <a:r>
              <a:rPr lang="en-US" sz="1200" dirty="0" err="1">
                <a:latin typeface="Arial" panose="020B0604020202020204" pitchFamily="34" charset="0"/>
                <a:cs typeface="Arial" panose="020B0604020202020204" pitchFamily="34" charset="0"/>
              </a:rPr>
              <a:t>interacción</a:t>
            </a:r>
            <a:r>
              <a:rPr lang="en-US" sz="1200" dirty="0">
                <a:latin typeface="Arial" panose="020B0604020202020204" pitchFamily="34" charset="0"/>
                <a:cs typeface="Arial" panose="020B0604020202020204" pitchFamily="34" charset="0"/>
              </a:rPr>
              <a:t> con las </a:t>
            </a:r>
            <a:r>
              <a:rPr lang="en-US" sz="1200" dirty="0" err="1">
                <a:latin typeface="Arial" panose="020B0604020202020204" pitchFamily="34" charset="0"/>
                <a:cs typeface="Arial" panose="020B0604020202020204" pitchFamily="34" charset="0"/>
              </a:rPr>
              <a:t>paredes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laterales</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ensanchar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2, 3 no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al principio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2, 3 se </a:t>
            </a:r>
            <a:r>
              <a:rPr lang="en-US" sz="1200" dirty="0" err="1">
                <a:latin typeface="Arial" panose="020B0604020202020204" pitchFamily="34" charset="0"/>
                <a:cs typeface="Arial" panose="020B0604020202020204" pitchFamily="34" charset="0"/>
              </a:rPr>
              <a:t>vuelven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del cladding. </a:t>
            </a:r>
            <a:r>
              <a:rPr lang="en-US" sz="1200" dirty="0" err="1">
                <a:latin typeface="Arial" panose="020B0604020202020204" pitchFamily="34" charset="0"/>
                <a:cs typeface="Arial" panose="020B0604020202020204" pitchFamily="34" charset="0"/>
              </a:rPr>
              <a:t>Aparecen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un ancho de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1.6 um.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317272" y="1420272"/>
            <a:ext cx="54103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95FF1DE-8DEA-8114-08F2-A3DBC0E643F5}"/>
              </a:ext>
            </a:extLst>
          </p:cNvPr>
          <p:cNvPicPr>
            <a:picLocks noChangeAspect="1"/>
          </p:cNvPicPr>
          <p:nvPr/>
        </p:nvPicPr>
        <p:blipFill>
          <a:blip r:embed="rId5"/>
          <a:stretch>
            <a:fillRect/>
          </a:stretch>
        </p:blipFill>
        <p:spPr>
          <a:xfrm>
            <a:off x="317272" y="1550847"/>
            <a:ext cx="5299133" cy="3078544"/>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07125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Waveguide compact model</a:t>
                </a:r>
                <a:br>
                  <a:rPr lang="en-US" sz="2500" spc="-5" dirty="0">
                    <a:latin typeface="+mj-lt"/>
                    <a:cs typeface="Lucida Sans"/>
                  </a:rPr>
                </a:br>
                <a:r>
                  <a:rPr lang="en-US" b="0" dirty="0"/>
                  <a:t>Let’s model the waveguide using a second order polynomial: </a:t>
                </a:r>
                <a:br>
                  <a:rPr lang="en-US" b="0" dirty="0"/>
                </a:b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𝑒𝑓𝑓</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3</m:t>
                          </m:r>
                        </m:sub>
                      </m:sSub>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e>
                        <m:sup>
                          <m:r>
                            <a:rPr lang="es-ES" b="0" i="1" smtClean="0">
                              <a:latin typeface="Cambria Math" panose="02040503050406030204" pitchFamily="18" charset="0"/>
                            </a:rPr>
                            <m:t>2</m:t>
                          </m:r>
                        </m:sup>
                      </m:sSup>
                    </m:oMath>
                  </m:oMathPara>
                </a14:m>
                <a:br>
                  <a:rPr lang="en-US" b="0" dirty="0"/>
                </a:br>
                <a:endParaRPr lang="en-US" sz="2500" b="0" dirty="0">
                  <a:latin typeface="+mj-lt"/>
                  <a:cs typeface="Lucida Sans"/>
                </a:endParaRPr>
              </a:p>
            </p:txBody>
          </p:sp>
        </mc:Choice>
        <mc:Fallback xmlns="">
          <p:sp>
            <p:nvSpPr>
              <p:cNvPr id="16" name="object 16">
                <a:extLst>
                  <a:ext uri="{FF2B5EF4-FFF2-40B4-BE49-F238E27FC236}">
                    <a16:creationId xmlns:a16="http://schemas.microsoft.com/office/drawing/2014/main" id="{394400B4-EE16-8E85-AB54-E82FE3B29345}"/>
                  </a:ext>
                </a:extLst>
              </p:cNvPr>
              <p:cNvSpPr txBox="1">
                <a:spLocks noGrp="1" noRot="1" noChangeAspect="1" noMove="1" noResize="1" noEditPoints="1" noAdjustHandles="1" noChangeArrowheads="1" noChangeShapeType="1" noTextEdit="1"/>
              </p:cNvSpPr>
              <p:nvPr>
                <p:ph type="title"/>
              </p:nvPr>
            </p:nvSpPr>
            <p:spPr>
              <a:xfrm>
                <a:off x="685800" y="408883"/>
                <a:ext cx="10994410" cy="1071255"/>
              </a:xfrm>
              <a:prstGeom prst="rect">
                <a:avLst/>
              </a:prstGeom>
              <a:blipFill>
                <a:blip r:embed="rId3"/>
                <a:stretch>
                  <a:fillRect l="-1664" t="-7386" b="-4545"/>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92474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924740"/>
              </a:xfrm>
              <a:prstGeom prst="rect">
                <a:avLst/>
              </a:prstGeom>
              <a:blipFill>
                <a:blip r:embed="rId6"/>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b="1" dirty="0"/>
                  <a:t>neff_TE0 vs </a:t>
                </a:r>
                <a14:m>
                  <m:oMath xmlns:m="http://schemas.openxmlformats.org/officeDocument/2006/math">
                    <m:r>
                      <a:rPr lang="es-ES" b="1" i="1" smtClean="0">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7"/>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b="1" dirty="0"/>
                  <a:t>neff_TE0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8"/>
                <a:stretch>
                  <a:fillRect t="-2538" r="-556"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01C62415-4E4A-32BC-9503-72E28B686738}"/>
              </a:ext>
            </a:extLst>
          </p:cNvPr>
          <p:cNvPicPr>
            <a:picLocks noChangeAspect="1"/>
          </p:cNvPicPr>
          <p:nvPr/>
        </p:nvPicPr>
        <p:blipFill>
          <a:blip r:embed="rId9"/>
          <a:stretch>
            <a:fillRect/>
          </a:stretch>
        </p:blipFill>
        <p:spPr>
          <a:xfrm>
            <a:off x="641267" y="1605333"/>
            <a:ext cx="5422900" cy="2984500"/>
          </a:xfrm>
          <a:prstGeom prst="rect">
            <a:avLst/>
          </a:prstGeom>
        </p:spPr>
      </p:pic>
      <p:pic>
        <p:nvPicPr>
          <p:cNvPr id="11" name="Imagen 10">
            <a:extLst>
              <a:ext uri="{FF2B5EF4-FFF2-40B4-BE49-F238E27FC236}">
                <a16:creationId xmlns:a16="http://schemas.microsoft.com/office/drawing/2014/main" id="{BECDAA38-DACA-4F18-71D0-6FA852128A43}"/>
              </a:ext>
            </a:extLst>
          </p:cNvPr>
          <p:cNvPicPr>
            <a:picLocks noChangeAspect="1"/>
          </p:cNvPicPr>
          <p:nvPr/>
        </p:nvPicPr>
        <p:blipFill>
          <a:blip r:embed="rId10"/>
          <a:stretch>
            <a:fillRect/>
          </a:stretch>
        </p:blipFill>
        <p:spPr>
          <a:xfrm>
            <a:off x="6347360" y="1605333"/>
            <a:ext cx="5422900" cy="2984500"/>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7A24CDD-D063-BE28-C1E8-E35E37CF6932}"/>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11" name="CuadroTexto 10">
            <a:extLst>
              <a:ext uri="{FF2B5EF4-FFF2-40B4-BE49-F238E27FC236}">
                <a16:creationId xmlns:a16="http://schemas.microsoft.com/office/drawing/2014/main" id="{13C6A831-37C6-DFA2-769E-DB57F9A633BE}"/>
              </a:ext>
            </a:extLst>
          </p:cNvPr>
          <p:cNvSpPr txBox="1"/>
          <p:nvPr/>
        </p:nvSpPr>
        <p:spPr>
          <a:xfrm>
            <a:off x="2514600" y="4779971"/>
            <a:ext cx="8839200" cy="1200329"/>
          </a:xfrm>
          <a:prstGeom prst="rect">
            <a:avLst/>
          </a:prstGeom>
          <a:noFill/>
        </p:spPr>
        <p:txBody>
          <a:bodyPr wrap="square" rtlCol="0">
            <a:spAutoFit/>
          </a:bodyPr>
          <a:lstStyle/>
          <a:p>
            <a:pPr algn="just"/>
            <a:r>
              <a:rPr lang="es-ES" sz="1200" dirty="0"/>
              <a:t>En primer lugar, la guía </a:t>
            </a:r>
            <a:r>
              <a:rPr lang="es-ES" sz="1200" dirty="0" err="1"/>
              <a:t>shallow</a:t>
            </a:r>
            <a:r>
              <a:rPr lang="es-ES" sz="1200" dirty="0"/>
              <a:t> presenta valores de índice efectivo más altos en ambos modos (TE0, TM0), lo que indica un comportamiento óptico más próximo al material de mayor índice. Sin embargo, la guía Deep presenta un índice de grupo ligeramente superior, lo que implica una menor velocidad de grupo y mayor retardo en la propagación de la señal. Respecto a la dispersión, ambas guías presentan valores negativos de D, pero la guía Deep muestra valores ligeramente más negativos, especialmente en el modo TM0, indicando una dispersión más intensa (difiere más de una recta), ya que hay un cambio más abrupto por las paredes de la guía. En cambio, en la guía </a:t>
            </a:r>
            <a:r>
              <a:rPr lang="es-ES" sz="1200" dirty="0" err="1"/>
              <a:t>slab</a:t>
            </a:r>
            <a:r>
              <a:rPr lang="es-ES" sz="1200" dirty="0"/>
              <a:t>, el campo se expande más lateralmente y como consecuencia, la variación de índice efectivo se suaviza con la longitud de onda</a:t>
            </a:r>
          </a:p>
        </p:txBody>
      </p:sp>
      <p:pic>
        <p:nvPicPr>
          <p:cNvPr id="12" name="Imagen 11">
            <a:extLst>
              <a:ext uri="{FF2B5EF4-FFF2-40B4-BE49-F238E27FC236}">
                <a16:creationId xmlns:a16="http://schemas.microsoft.com/office/drawing/2014/main" id="{C4BFA34E-00EA-2A4C-2324-F84043DD3E50}"/>
              </a:ext>
            </a:extLst>
          </p:cNvPr>
          <p:cNvPicPr>
            <a:picLocks noChangeAspect="1"/>
          </p:cNvPicPr>
          <p:nvPr/>
        </p:nvPicPr>
        <p:blipFill>
          <a:blip r:embed="rId2"/>
          <a:stretch>
            <a:fillRect/>
          </a:stretch>
        </p:blipFill>
        <p:spPr>
          <a:xfrm>
            <a:off x="2249797" y="2091051"/>
            <a:ext cx="4495800" cy="2474269"/>
          </a:xfrm>
          <a:prstGeom prst="rect">
            <a:avLst/>
          </a:prstGeom>
        </p:spPr>
      </p:pic>
      <p:graphicFrame>
        <p:nvGraphicFramePr>
          <p:cNvPr id="13" name="Tabla 12">
            <a:extLst>
              <a:ext uri="{FF2B5EF4-FFF2-40B4-BE49-F238E27FC236}">
                <a16:creationId xmlns:a16="http://schemas.microsoft.com/office/drawing/2014/main" id="{25C37CB3-701F-FEB2-753D-D31F624980C3}"/>
              </a:ext>
            </a:extLst>
          </p:cNvPr>
          <p:cNvGraphicFramePr>
            <a:graphicFrameLocks noGrp="1"/>
          </p:cNvGraphicFramePr>
          <p:nvPr>
            <p:extLst>
              <p:ext uri="{D42A27DB-BD31-4B8C-83A1-F6EECF244321}">
                <p14:modId xmlns:p14="http://schemas.microsoft.com/office/powerpoint/2010/main" val="1973737023"/>
              </p:ext>
            </p:extLst>
          </p:nvPr>
        </p:nvGraphicFramePr>
        <p:xfrm>
          <a:off x="2819090" y="450520"/>
          <a:ext cx="7838750" cy="1463040"/>
        </p:xfrm>
        <a:graphic>
          <a:graphicData uri="http://schemas.openxmlformats.org/drawingml/2006/table">
            <a:tbl>
              <a:tblPr firstRow="1" bandRow="1">
                <a:tableStyleId>{5C22544A-7EE6-4342-B048-85BDC9FD1C3A}</a:tableStyleId>
              </a:tblPr>
              <a:tblGrid>
                <a:gridCol w="1567750">
                  <a:extLst>
                    <a:ext uri="{9D8B030D-6E8A-4147-A177-3AD203B41FA5}">
                      <a16:colId xmlns:a16="http://schemas.microsoft.com/office/drawing/2014/main" val="2206940162"/>
                    </a:ext>
                  </a:extLst>
                </a:gridCol>
                <a:gridCol w="1567750">
                  <a:extLst>
                    <a:ext uri="{9D8B030D-6E8A-4147-A177-3AD203B41FA5}">
                      <a16:colId xmlns:a16="http://schemas.microsoft.com/office/drawing/2014/main" val="301944227"/>
                    </a:ext>
                  </a:extLst>
                </a:gridCol>
                <a:gridCol w="1567750">
                  <a:extLst>
                    <a:ext uri="{9D8B030D-6E8A-4147-A177-3AD203B41FA5}">
                      <a16:colId xmlns:a16="http://schemas.microsoft.com/office/drawing/2014/main" val="3195722222"/>
                    </a:ext>
                  </a:extLst>
                </a:gridCol>
                <a:gridCol w="1567750">
                  <a:extLst>
                    <a:ext uri="{9D8B030D-6E8A-4147-A177-3AD203B41FA5}">
                      <a16:colId xmlns:a16="http://schemas.microsoft.com/office/drawing/2014/main" val="416750422"/>
                    </a:ext>
                  </a:extLst>
                </a:gridCol>
                <a:gridCol w="1567750">
                  <a:extLst>
                    <a:ext uri="{9D8B030D-6E8A-4147-A177-3AD203B41FA5}">
                      <a16:colId xmlns:a16="http://schemas.microsoft.com/office/drawing/2014/main" val="2847253081"/>
                    </a:ext>
                  </a:extLst>
                </a:gridCol>
              </a:tblGrid>
              <a:tr h="285750">
                <a:tc>
                  <a:txBody>
                    <a:bodyPr/>
                    <a:lstStyle/>
                    <a:p>
                      <a:endParaRPr lang="es-ES" dirty="0"/>
                    </a:p>
                  </a:txBody>
                  <a:tcPr/>
                </a:tc>
                <a:tc>
                  <a:txBody>
                    <a:bodyPr/>
                    <a:lstStyle/>
                    <a:p>
                      <a:r>
                        <a:rPr lang="es-ES" dirty="0"/>
                        <a:t>Deep (TE0)</a:t>
                      </a:r>
                    </a:p>
                  </a:txBody>
                  <a:tcPr/>
                </a:tc>
                <a:tc>
                  <a:txBody>
                    <a:bodyPr/>
                    <a:lstStyle/>
                    <a:p>
                      <a:r>
                        <a:rPr lang="es-ES" dirty="0"/>
                        <a:t>Deep (TM0)</a:t>
                      </a:r>
                    </a:p>
                  </a:txBody>
                  <a:tcPr/>
                </a:tc>
                <a:tc>
                  <a:txBody>
                    <a:bodyPr/>
                    <a:lstStyle/>
                    <a:p>
                      <a:r>
                        <a:rPr lang="es-ES" dirty="0" err="1"/>
                        <a:t>Shallow</a:t>
                      </a:r>
                      <a:r>
                        <a:rPr lang="es-ES" dirty="0"/>
                        <a:t> (TE0)</a:t>
                      </a:r>
                    </a:p>
                  </a:txBody>
                  <a:tcPr/>
                </a:tc>
                <a:tc>
                  <a:txBody>
                    <a:bodyPr/>
                    <a:lstStyle/>
                    <a:p>
                      <a:r>
                        <a:rPr lang="es-ES" dirty="0" err="1"/>
                        <a:t>Shallow</a:t>
                      </a:r>
                      <a:r>
                        <a:rPr lang="es-ES" dirty="0"/>
                        <a:t> (TM0)</a:t>
                      </a:r>
                    </a:p>
                  </a:txBody>
                  <a:tcPr/>
                </a:tc>
                <a:extLst>
                  <a:ext uri="{0D108BD9-81ED-4DB2-BD59-A6C34878D82A}">
                    <a16:rowId xmlns:a16="http://schemas.microsoft.com/office/drawing/2014/main" val="4000585956"/>
                  </a:ext>
                </a:extLst>
              </a:tr>
              <a:tr h="285750">
                <a:tc>
                  <a:txBody>
                    <a:bodyPr/>
                    <a:lstStyle/>
                    <a:p>
                      <a:r>
                        <a:rPr lang="es-ES" dirty="0" err="1"/>
                        <a:t>n_eff</a:t>
                      </a:r>
                      <a:r>
                        <a:rPr lang="es-ES" dirty="0"/>
                        <a:t>(lamda0)</a:t>
                      </a:r>
                    </a:p>
                  </a:txBody>
                  <a:tcPr/>
                </a:tc>
                <a:tc>
                  <a:txBody>
                    <a:bodyPr/>
                    <a:lstStyle/>
                    <a:p>
                      <a:r>
                        <a:rPr lang="es-ES" dirty="0"/>
                        <a:t>1.6049</a:t>
                      </a:r>
                    </a:p>
                  </a:txBody>
                  <a:tcPr/>
                </a:tc>
                <a:tc>
                  <a:txBody>
                    <a:bodyPr/>
                    <a:lstStyle/>
                    <a:p>
                      <a:r>
                        <a:rPr lang="es-ES" dirty="0"/>
                        <a:t>1.5271</a:t>
                      </a:r>
                    </a:p>
                  </a:txBody>
                  <a:tcPr/>
                </a:tc>
                <a:tc>
                  <a:txBody>
                    <a:bodyPr/>
                    <a:lstStyle/>
                    <a:p>
                      <a:r>
                        <a:rPr lang="es-ES" dirty="0"/>
                        <a:t>1.6240</a:t>
                      </a:r>
                    </a:p>
                  </a:txBody>
                  <a:tcPr/>
                </a:tc>
                <a:tc>
                  <a:txBody>
                    <a:bodyPr/>
                    <a:lstStyle/>
                    <a:p>
                      <a:r>
                        <a:rPr lang="es-ES" dirty="0"/>
                        <a:t>1.5418</a:t>
                      </a:r>
                    </a:p>
                  </a:txBody>
                  <a:tcPr/>
                </a:tc>
                <a:extLst>
                  <a:ext uri="{0D108BD9-81ED-4DB2-BD59-A6C34878D82A}">
                    <a16:rowId xmlns:a16="http://schemas.microsoft.com/office/drawing/2014/main" val="3854574132"/>
                  </a:ext>
                </a:extLst>
              </a:tr>
              <a:tr h="285750">
                <a:tc>
                  <a:txBody>
                    <a:bodyPr/>
                    <a:lstStyle/>
                    <a:p>
                      <a:r>
                        <a:rPr lang="es-ES" dirty="0" err="1"/>
                        <a:t>n_g</a:t>
                      </a:r>
                      <a:r>
                        <a:rPr lang="es-ES" dirty="0"/>
                        <a:t>(lamda0)</a:t>
                      </a:r>
                    </a:p>
                  </a:txBody>
                  <a:tcPr/>
                </a:tc>
                <a:tc>
                  <a:txBody>
                    <a:bodyPr/>
                    <a:lstStyle/>
                    <a:p>
                      <a:r>
                        <a:rPr lang="es-ES" dirty="0"/>
                        <a:t>1.9399</a:t>
                      </a:r>
                    </a:p>
                  </a:txBody>
                  <a:tcPr/>
                </a:tc>
                <a:tc>
                  <a:txBody>
                    <a:bodyPr/>
                    <a:lstStyle/>
                    <a:p>
                      <a:r>
                        <a:rPr lang="es-ES" dirty="0"/>
                        <a:t>1.7720</a:t>
                      </a:r>
                    </a:p>
                  </a:txBody>
                  <a:tcPr/>
                </a:tc>
                <a:tc>
                  <a:txBody>
                    <a:bodyPr/>
                    <a:lstStyle/>
                    <a:p>
                      <a:r>
                        <a:rPr lang="es-ES" dirty="0"/>
                        <a:t>1.9157</a:t>
                      </a:r>
                    </a:p>
                  </a:txBody>
                  <a:tcPr/>
                </a:tc>
                <a:tc>
                  <a:txBody>
                    <a:bodyPr/>
                    <a:lstStyle/>
                    <a:p>
                      <a:r>
                        <a:rPr lang="es-ES" dirty="0"/>
                        <a:t>1.7474</a:t>
                      </a:r>
                    </a:p>
                  </a:txBody>
                  <a:tcPr/>
                </a:tc>
                <a:extLst>
                  <a:ext uri="{0D108BD9-81ED-4DB2-BD59-A6C34878D82A}">
                    <a16:rowId xmlns:a16="http://schemas.microsoft.com/office/drawing/2014/main" val="1277662900"/>
                  </a:ext>
                </a:extLst>
              </a:tr>
              <a:tr h="285750">
                <a:tc>
                  <a:txBody>
                    <a:bodyPr/>
                    <a:lstStyle/>
                    <a:p>
                      <a:r>
                        <a:rPr lang="es-ES" dirty="0"/>
                        <a:t>D[s^2/m]</a:t>
                      </a:r>
                    </a:p>
                  </a:txBody>
                  <a:tcPr/>
                </a:tc>
                <a:tc>
                  <a:txBody>
                    <a:bodyPr/>
                    <a:lstStyle/>
                    <a:p>
                      <a:r>
                        <a:rPr lang="es-ES" dirty="0"/>
                        <a:t>-1.006e-15</a:t>
                      </a:r>
                    </a:p>
                  </a:txBody>
                  <a:tcPr/>
                </a:tc>
                <a:tc>
                  <a:txBody>
                    <a:bodyPr/>
                    <a:lstStyle/>
                    <a:p>
                      <a:r>
                        <a:rPr lang="es-ES" dirty="0"/>
                        <a:t>-1.5895e-15</a:t>
                      </a:r>
                    </a:p>
                  </a:txBody>
                  <a:tcPr/>
                </a:tc>
                <a:tc>
                  <a:txBody>
                    <a:bodyPr/>
                    <a:lstStyle/>
                    <a:p>
                      <a:r>
                        <a:rPr lang="es-ES" dirty="0"/>
                        <a:t>-9.8885e-16</a:t>
                      </a:r>
                    </a:p>
                  </a:txBody>
                  <a:tcPr/>
                </a:tc>
                <a:tc>
                  <a:txBody>
                    <a:bodyPr/>
                    <a:lstStyle/>
                    <a:p>
                      <a:r>
                        <a:rPr lang="es-ES" dirty="0"/>
                        <a:t>-1.5294e-15</a:t>
                      </a:r>
                    </a:p>
                  </a:txBody>
                  <a:tcPr/>
                </a:tc>
                <a:extLst>
                  <a:ext uri="{0D108BD9-81ED-4DB2-BD59-A6C34878D82A}">
                    <a16:rowId xmlns:a16="http://schemas.microsoft.com/office/drawing/2014/main" val="171888163"/>
                  </a:ext>
                </a:extLst>
              </a:tr>
            </a:tbl>
          </a:graphicData>
        </a:graphic>
      </p:graphicFrame>
      <p:pic>
        <p:nvPicPr>
          <p:cNvPr id="14" name="Imagen 13">
            <a:extLst>
              <a:ext uri="{FF2B5EF4-FFF2-40B4-BE49-F238E27FC236}">
                <a16:creationId xmlns:a16="http://schemas.microsoft.com/office/drawing/2014/main" id="{DE90059C-C913-3686-70CD-41A046DFF3BB}"/>
              </a:ext>
            </a:extLst>
          </p:cNvPr>
          <p:cNvPicPr>
            <a:picLocks noChangeAspect="1"/>
          </p:cNvPicPr>
          <p:nvPr/>
        </p:nvPicPr>
        <p:blipFill>
          <a:blip r:embed="rId3"/>
          <a:stretch>
            <a:fillRect/>
          </a:stretch>
        </p:blipFill>
        <p:spPr>
          <a:xfrm>
            <a:off x="6847840" y="2078029"/>
            <a:ext cx="4495800" cy="2474269"/>
          </a:xfrm>
          <a:prstGeom prst="rect">
            <a:avLst/>
          </a:prstGeom>
        </p:spPr>
      </p:pic>
    </p:spTree>
    <p:extLst>
      <p:ext uri="{BB962C8B-B14F-4D97-AF65-F5344CB8AC3E}">
        <p14:creationId xmlns:p14="http://schemas.microsoft.com/office/powerpoint/2010/main" val="1115724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Bend waveguide radius vs. loss – deep</a:t>
            </a:r>
            <a:br>
              <a:rPr lang="en-US" sz="2500" dirty="0"/>
            </a:br>
            <a:r>
              <a:rPr lang="en-US" b="0" dirty="0"/>
              <a:t>Find  neff_TE0 for </a:t>
            </a:r>
            <a:r>
              <a:rPr lang="en-US" b="0" dirty="0" err="1"/>
              <a:t>wvl</a:t>
            </a:r>
            <a:r>
              <a:rPr lang="en-US" b="0" dirty="0"/>
              <a:t> 1.55 µm, width 1.0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09FBBBB-69CA-B7E5-7176-8227F2788CF5}"/>
                  </a:ext>
                </a:extLst>
              </p:cNvPr>
              <p:cNvSpPr txBox="1"/>
              <p:nvPr/>
            </p:nvSpPr>
            <p:spPr>
              <a:xfrm>
                <a:off x="9941529" y="4179383"/>
                <a:ext cx="1856534" cy="439608"/>
              </a:xfrm>
              <a:prstGeom prst="rect">
                <a:avLst/>
              </a:prstGeom>
              <a:noFill/>
            </p:spPr>
            <p:txBody>
              <a:bodyPr wrap="none" lIns="0" tIns="0" rIns="0" bIns="0" rtlCol="0">
                <a:spAutoFit/>
              </a:bodyPr>
              <a:lstStyle/>
              <a:p>
                <a14:m>
                  <m:oMath xmlns:m="http://schemas.openxmlformats.org/officeDocument/2006/math">
                    <m:r>
                      <a:rPr lang="es-ES" sz="1800" b="0" i="1" smtClean="0">
                        <a:latin typeface="Cambria Math" panose="02040503050406030204" pitchFamily="18" charset="0"/>
                      </a:rPr>
                      <m:t>𝛼</m:t>
                    </m:r>
                    <m:d>
                      <m:dPr>
                        <m:begChr m:val="["/>
                        <m:endChr m:val="]"/>
                        <m:ctrlPr>
                          <a:rPr lang="es-ES" sz="1800" b="0" i="1" smtClean="0">
                            <a:latin typeface="Cambria Math" panose="02040503050406030204" pitchFamily="18" charset="0"/>
                          </a:rPr>
                        </m:ctrlPr>
                      </m:dPr>
                      <m:e>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𝑑𝐵</m:t>
                            </m:r>
                          </m:num>
                          <m:den>
                            <m:r>
                              <a:rPr lang="es-ES" sz="1800" b="0" i="1" smtClean="0">
                                <a:latin typeface="Cambria Math" panose="02040503050406030204" pitchFamily="18" charset="0"/>
                              </a:rPr>
                              <m:t>90</m:t>
                            </m:r>
                            <m:r>
                              <a:rPr lang="es-ES" sz="1800" b="0" i="1" smtClean="0">
                                <a:latin typeface="Cambria Math" panose="02040503050406030204" pitchFamily="18" charset="0"/>
                                <a:ea typeface="Cambria Math" panose="02040503050406030204" pitchFamily="18" charset="0"/>
                              </a:rPr>
                              <m:t>°</m:t>
                            </m:r>
                          </m:den>
                        </m:f>
                      </m:e>
                    </m:d>
                    <m:r>
                      <a:rPr lang="es-ES" sz="1800" b="0" i="1" smtClean="0">
                        <a:latin typeface="Cambria Math" panose="02040503050406030204" pitchFamily="18" charset="0"/>
                      </a:rPr>
                      <m:t>=</m:t>
                    </m:r>
                  </m:oMath>
                </a14:m>
                <a:r>
                  <a:rPr lang="es-ES" sz="1800" dirty="0"/>
                  <a:t> </a:t>
                </a:r>
                <a14:m>
                  <m:oMath xmlns:m="http://schemas.openxmlformats.org/officeDocument/2006/math">
                    <m:r>
                      <m:rPr>
                        <m:sty m:val="p"/>
                      </m:rPr>
                      <a:rPr lang="es-ES" sz="1800" b="0" i="0" smtClean="0">
                        <a:latin typeface="Cambria Math" panose="02040503050406030204" pitchFamily="18" charset="0"/>
                      </a:rPr>
                      <m:t>R</m:t>
                    </m:r>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𝜋</m:t>
                        </m:r>
                      </m:num>
                      <m:den>
                        <m:r>
                          <a:rPr lang="es-ES" sz="1800" b="0" i="1" smtClean="0">
                            <a:latin typeface="Cambria Math" panose="02040503050406030204" pitchFamily="18" charset="0"/>
                          </a:rPr>
                          <m:t>2</m:t>
                        </m:r>
                      </m:den>
                    </m:f>
                    <m:r>
                      <a:rPr lang="es-ES" sz="1800" i="1">
                        <a:latin typeface="Cambria Math" panose="02040503050406030204" pitchFamily="18" charset="0"/>
                      </a:rPr>
                      <m:t>𝛼</m:t>
                    </m:r>
                    <m:d>
                      <m:dPr>
                        <m:begChr m:val="["/>
                        <m:endChr m:val="]"/>
                        <m:ctrlPr>
                          <a:rPr lang="es-ES" sz="1800" i="1">
                            <a:latin typeface="Cambria Math" panose="02040503050406030204" pitchFamily="18" charset="0"/>
                          </a:rPr>
                        </m:ctrlPr>
                      </m:dPr>
                      <m:e>
                        <m:f>
                          <m:fPr>
                            <m:ctrlPr>
                              <a:rPr lang="es-ES" sz="1800" i="1">
                                <a:latin typeface="Cambria Math" panose="02040503050406030204" pitchFamily="18" charset="0"/>
                              </a:rPr>
                            </m:ctrlPr>
                          </m:fPr>
                          <m:num>
                            <m:r>
                              <a:rPr lang="es-ES" sz="1800" i="1">
                                <a:latin typeface="Cambria Math" panose="02040503050406030204" pitchFamily="18" charset="0"/>
                              </a:rPr>
                              <m:t>𝑑𝐵</m:t>
                            </m:r>
                          </m:num>
                          <m:den>
                            <m:r>
                              <a:rPr lang="es-ES" sz="1800" i="1">
                                <a:latin typeface="Cambria Math" panose="02040503050406030204" pitchFamily="18" charset="0"/>
                              </a:rPr>
                              <m:t>µ</m:t>
                            </m:r>
                            <m:r>
                              <a:rPr lang="es-ES" sz="1800" i="1">
                                <a:latin typeface="Cambria Math" panose="02040503050406030204" pitchFamily="18" charset="0"/>
                              </a:rPr>
                              <m:t>𝑚</m:t>
                            </m:r>
                          </m:den>
                        </m:f>
                      </m:e>
                    </m:d>
                  </m:oMath>
                </a14:m>
                <a:endParaRPr lang="en-US" sz="1800" dirty="0"/>
              </a:p>
            </p:txBody>
          </p:sp>
        </mc:Choice>
        <mc:Fallback xmlns="">
          <p:sp>
            <p:nvSpPr>
              <p:cNvPr id="6" name="CuadroTexto 5">
                <a:extLst>
                  <a:ext uri="{FF2B5EF4-FFF2-40B4-BE49-F238E27FC236}">
                    <a16:creationId xmlns:a16="http://schemas.microsoft.com/office/drawing/2014/main" id="{409FBBBB-69CA-B7E5-7176-8227F2788CF5}"/>
                  </a:ext>
                </a:extLst>
              </p:cNvPr>
              <p:cNvSpPr txBox="1">
                <a:spLocks noRot="1" noChangeAspect="1" noMove="1" noResize="1" noEditPoints="1" noAdjustHandles="1" noChangeArrowheads="1" noChangeShapeType="1" noTextEdit="1"/>
              </p:cNvSpPr>
              <p:nvPr/>
            </p:nvSpPr>
            <p:spPr>
              <a:xfrm>
                <a:off x="9941529" y="4179383"/>
                <a:ext cx="1856534" cy="439608"/>
              </a:xfrm>
              <a:prstGeom prst="rect">
                <a:avLst/>
              </a:prstGeom>
              <a:blipFill>
                <a:blip r:embed="rId5"/>
                <a:stretch>
                  <a:fillRect l="-3289" b="-13889"/>
                </a:stretch>
              </a:blipFill>
            </p:spPr>
            <p:txBody>
              <a:bodyPr/>
              <a:lstStyle/>
              <a:p>
                <a:r>
                  <a:rPr lang="es-ES">
                    <a:noFill/>
                  </a:rPr>
                  <a:t> </a:t>
                </a:r>
              </a:p>
            </p:txBody>
          </p:sp>
        </mc:Fallback>
      </mc:AlternateContent>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dB/90º neff_TE0 &amp; neff_TM0 vs R</a:t>
            </a:r>
          </a:p>
        </p:txBody>
      </p:sp>
      <p:pic>
        <p:nvPicPr>
          <p:cNvPr id="9" name="Imagen 8">
            <a:extLst>
              <a:ext uri="{FF2B5EF4-FFF2-40B4-BE49-F238E27FC236}">
                <a16:creationId xmlns:a16="http://schemas.microsoft.com/office/drawing/2014/main" id="{C1325C35-AD3E-055F-E9A3-DC6314E19EE7}"/>
              </a:ext>
            </a:extLst>
          </p:cNvPr>
          <p:cNvPicPr>
            <a:picLocks noChangeAspect="1"/>
          </p:cNvPicPr>
          <p:nvPr/>
        </p:nvPicPr>
        <p:blipFill>
          <a:blip r:embed="rId6"/>
          <a:stretch>
            <a:fillRect/>
          </a:stretch>
        </p:blipFill>
        <p:spPr>
          <a:xfrm>
            <a:off x="7700014" y="1444009"/>
            <a:ext cx="4056555" cy="3197354"/>
          </a:xfrm>
          <a:prstGeom prst="rect">
            <a:avLst/>
          </a:prstGeom>
        </p:spPr>
      </p:pic>
      <p:pic>
        <p:nvPicPr>
          <p:cNvPr id="10" name="Imagen 9">
            <a:extLst>
              <a:ext uri="{FF2B5EF4-FFF2-40B4-BE49-F238E27FC236}">
                <a16:creationId xmlns:a16="http://schemas.microsoft.com/office/drawing/2014/main" id="{60FF804B-23B8-AB0B-489F-DED66293FC90}"/>
              </a:ext>
            </a:extLst>
          </p:cNvPr>
          <p:cNvPicPr>
            <a:picLocks noChangeAspect="1"/>
          </p:cNvPicPr>
          <p:nvPr/>
        </p:nvPicPr>
        <p:blipFill>
          <a:blip r:embed="rId7"/>
          <a:stretch>
            <a:fillRect/>
          </a:stretch>
        </p:blipFill>
        <p:spPr>
          <a:xfrm>
            <a:off x="1890354" y="1498925"/>
            <a:ext cx="5809660" cy="319735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9A762D-D483-3C49-E54F-540DCCF4115F}"/>
              </a:ext>
            </a:extLst>
          </p:cNvPr>
          <p:cNvSpPr>
            <a:spLocks noGrp="1"/>
          </p:cNvSpPr>
          <p:nvPr>
            <p:ph type="title"/>
          </p:nvPr>
        </p:nvSpPr>
        <p:spPr>
          <a:xfrm>
            <a:off x="609600" y="609600"/>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4</a:t>
            </a:r>
          </a:p>
        </p:txBody>
      </p:sp>
      <p:sp>
        <p:nvSpPr>
          <p:cNvPr id="4" name="Marcador de pie de página 3">
            <a:extLst>
              <a:ext uri="{FF2B5EF4-FFF2-40B4-BE49-F238E27FC236}">
                <a16:creationId xmlns:a16="http://schemas.microsoft.com/office/drawing/2014/main" id="{B6E169E9-4FD4-5DF6-6AD4-0131A3B1376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D56338DF-E3F0-A71F-9880-8FC43A94845E}"/>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Rectangle 1">
            <a:extLst>
              <a:ext uri="{FF2B5EF4-FFF2-40B4-BE49-F238E27FC236}">
                <a16:creationId xmlns:a16="http://schemas.microsoft.com/office/drawing/2014/main" id="{691F74DB-B9BA-EF42-9FE7-9C5AEDA05E20}"/>
              </a:ext>
            </a:extLst>
          </p:cNvPr>
          <p:cNvSpPr>
            <a:spLocks noGrp="1" noChangeArrowheads="1"/>
          </p:cNvSpPr>
          <p:nvPr>
            <p:ph type="body" idx="1"/>
          </p:nvPr>
        </p:nvSpPr>
        <p:spPr bwMode="auto">
          <a:xfrm>
            <a:off x="533400" y="1143000"/>
            <a:ext cx="108966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dirty="0">
                <a:ln>
                  <a:noFill/>
                </a:ln>
                <a:solidFill>
                  <a:srgbClr val="000000"/>
                </a:solidFill>
                <a:effectLst/>
                <a:latin typeface="Arial" panose="020B0604020202020204" pitchFamily="34" charset="0"/>
              </a:rPr>
              <a:t>Al curvar la guía, el modo </a:t>
            </a:r>
            <a:r>
              <a:rPr kumimoji="0" lang="es-ES" altLang="es-ES" sz="1800" b="1" i="0" u="none" strike="noStrike" cap="none" normalizeH="0" baseline="0" dirty="0">
                <a:ln>
                  <a:noFill/>
                </a:ln>
                <a:solidFill>
                  <a:srgbClr val="000000"/>
                </a:solidFill>
                <a:effectLst/>
                <a:latin typeface="Arial" panose="020B0604020202020204" pitchFamily="34" charset="0"/>
              </a:rPr>
              <a:t>se desplaza hacia la pared exterior</a:t>
            </a:r>
            <a:r>
              <a:rPr kumimoji="0" lang="es-ES" altLang="es-ES" sz="1800" b="0" i="0" u="none" strike="noStrike" cap="none" normalizeH="0" baseline="0" dirty="0">
                <a:ln>
                  <a:noFill/>
                </a:ln>
                <a:solidFill>
                  <a:srgbClr val="000000"/>
                </a:solidFill>
                <a:effectLst/>
                <a:latin typeface="Arial" panose="020B0604020202020204" pitchFamily="34" charset="0"/>
              </a:rPr>
              <a:t> y además </a:t>
            </a:r>
            <a:r>
              <a:rPr kumimoji="0" lang="es-ES" altLang="es-ES" sz="1800" b="1" i="0" u="none" strike="noStrike" cap="none" normalizeH="0" baseline="0" dirty="0">
                <a:ln>
                  <a:noFill/>
                </a:ln>
                <a:solidFill>
                  <a:srgbClr val="000000"/>
                </a:solidFill>
                <a:effectLst/>
                <a:latin typeface="Arial" panose="020B0604020202020204" pitchFamily="34" charset="0"/>
              </a:rPr>
              <a:t>se deforma</a:t>
            </a:r>
            <a:r>
              <a:rPr kumimoji="0" lang="es-ES" altLang="es-ES" sz="1800" b="0" i="0" u="none" strike="noStrike" cap="none" normalizeH="0" baseline="0" dirty="0">
                <a:ln>
                  <a:noFill/>
                </a:ln>
                <a:solidFill>
                  <a:srgbClr val="000000"/>
                </a:solidFill>
                <a:effectLst/>
                <a:latin typeface="Arial" panose="020B0604020202020204" pitchFamily="34" charset="0"/>
              </a:rPr>
              <a:t>. Esa deformación hace que, proporcionalmente, una fracción mayor del campo permanezca en el núcleo, aunque simultáneamente aumente su interacción con la cubierta.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dirty="0">
                <a:ln>
                  <a:noFill/>
                </a:ln>
                <a:solidFill>
                  <a:srgbClr val="000000"/>
                </a:solidFill>
                <a:effectLst/>
                <a:latin typeface="Arial" panose="020B0604020202020204" pitchFamily="34" charset="0"/>
              </a:rPr>
              <a:t>Mientras el modo sigue confinado (R por encima del radio crítico), el índice efectivo apenas varía y las pérdidas disminuyen rápidamente al aumentar el radio. Sin embargo, cuando el radio se aproxima al mínimo de curvatura, el confinamiento se degrada, aparece radiación significativa y la tendencia se rompe, produciéndose un incremento brusco de pérdidas.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lvl="0" algn="just" rtl="0"/>
            <a:r>
              <a:rPr kumimoji="0" lang="es-ES" altLang="es-ES" sz="1800" b="0" i="0" u="none" strike="noStrike" cap="none" normalizeH="0" baseline="0" dirty="0">
                <a:ln>
                  <a:noFill/>
                </a:ln>
                <a:solidFill>
                  <a:srgbClr val="000000"/>
                </a:solidFill>
                <a:effectLst/>
                <a:latin typeface="Arial" panose="020B0604020202020204" pitchFamily="34" charset="0"/>
              </a:rPr>
              <a:t>En los resultados obtenidos, esto se observa claramente en R = 25 µm (régimen no seguro), mientras que a partir de 50 µm el modo permanece bien confinado y la pérdida cae por debajo de 0.1 dB/90°. No obstante, es a partir de unos 75 </a:t>
            </a:r>
            <a:r>
              <a:rPr lang="es-ES" altLang="es-ES" dirty="0">
                <a:solidFill>
                  <a:srgbClr val="000000"/>
                </a:solidFill>
              </a:rPr>
              <a:t>µm que el índice efectivo y las pérdidas se estabilizan, por lo que este sería el radio seguro que escogeríamos.</a:t>
            </a:r>
            <a:endParaRPr kumimoji="0" lang="es-ES" altLang="es-ES" sz="18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000000"/>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6652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ECCE1-1F3A-C624-E20F-BF4BA9A36859}"/>
              </a:ext>
            </a:extLst>
          </p:cNvPr>
          <p:cNvSpPr>
            <a:spLocks noGrp="1"/>
          </p:cNvSpPr>
          <p:nvPr>
            <p:ph type="title"/>
          </p:nvPr>
        </p:nvSpPr>
        <p:spPr>
          <a:xfrm>
            <a:off x="295275" y="216277"/>
            <a:ext cx="10991850" cy="307777"/>
          </a:xfrm>
        </p:spPr>
        <p:txBody>
          <a:bodyPr/>
          <a:lstStyle/>
          <a:p>
            <a:r>
              <a:rPr lang="es-ES" dirty="0" err="1"/>
              <a:t>Comments</a:t>
            </a:r>
            <a:r>
              <a:rPr lang="es-ES" dirty="0"/>
              <a:t> </a:t>
            </a:r>
            <a:r>
              <a:rPr lang="es-ES" dirty="0" err="1"/>
              <a:t>on</a:t>
            </a:r>
            <a:r>
              <a:rPr lang="es-ES" dirty="0"/>
              <a:t> </a:t>
            </a:r>
            <a:r>
              <a:rPr lang="es-ES" dirty="0" err="1"/>
              <a:t>the</a:t>
            </a:r>
            <a:r>
              <a:rPr lang="es-ES" dirty="0"/>
              <a:t> extra: </a:t>
            </a:r>
            <a:r>
              <a:rPr lang="es-ES" dirty="0" err="1"/>
              <a:t>comparison</a:t>
            </a:r>
            <a:r>
              <a:rPr lang="es-ES" dirty="0"/>
              <a:t> </a:t>
            </a:r>
            <a:r>
              <a:rPr lang="es-ES" dirty="0" err="1"/>
              <a:t>between</a:t>
            </a:r>
            <a:r>
              <a:rPr lang="es-ES" dirty="0"/>
              <a:t> </a:t>
            </a:r>
            <a:r>
              <a:rPr lang="es-ES" dirty="0" err="1"/>
              <a:t>the</a:t>
            </a:r>
            <a:r>
              <a:rPr lang="es-ES" dirty="0"/>
              <a:t> </a:t>
            </a:r>
            <a:r>
              <a:rPr lang="es-ES" dirty="0" err="1"/>
              <a:t>two</a:t>
            </a:r>
            <a:r>
              <a:rPr lang="es-ES" dirty="0"/>
              <a:t> </a:t>
            </a:r>
            <a:r>
              <a:rPr lang="es-ES" dirty="0" err="1"/>
              <a:t>technologies</a:t>
            </a:r>
            <a:endParaRPr lang="es-ES" dirty="0"/>
          </a:p>
        </p:txBody>
      </p:sp>
      <p:sp>
        <p:nvSpPr>
          <p:cNvPr id="3" name="Marcador de texto 2">
            <a:extLst>
              <a:ext uri="{FF2B5EF4-FFF2-40B4-BE49-F238E27FC236}">
                <a16:creationId xmlns:a16="http://schemas.microsoft.com/office/drawing/2014/main" id="{0A28A7D0-27CB-152A-72A3-8DD9215B8256}"/>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A37E7721-5C39-C2EF-DDB0-A9F03EA9106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BC610873-D17A-96F5-8BAF-6831CFE0D70F}"/>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11" name="CuadroTexto 10">
            <a:extLst>
              <a:ext uri="{FF2B5EF4-FFF2-40B4-BE49-F238E27FC236}">
                <a16:creationId xmlns:a16="http://schemas.microsoft.com/office/drawing/2014/main" id="{A5EEB1CF-7619-9709-C08F-E3CAD19C249B}"/>
              </a:ext>
            </a:extLst>
          </p:cNvPr>
          <p:cNvSpPr txBox="1"/>
          <p:nvPr/>
        </p:nvSpPr>
        <p:spPr>
          <a:xfrm>
            <a:off x="3186334" y="774571"/>
            <a:ext cx="6414866" cy="283091"/>
          </a:xfrm>
          <a:prstGeom prst="rect">
            <a:avLst/>
          </a:prstGeom>
          <a:noFill/>
        </p:spPr>
        <p:txBody>
          <a:bodyPr wrap="square">
            <a:spAutoFit/>
          </a:bodyPr>
          <a:lstStyle/>
          <a:p>
            <a:pPr>
              <a:lnSpc>
                <a:spcPts val="1350"/>
              </a:lnSpc>
              <a:buNone/>
            </a:pPr>
            <a:r>
              <a:rPr lang="es-ES" b="1" dirty="0" err="1">
                <a:solidFill>
                  <a:srgbClr val="FF0000"/>
                </a:solidFill>
                <a:effectLst/>
                <a:latin typeface="Menlo" panose="020B0609030804020204" pitchFamily="49" charset="0"/>
              </a:rPr>
              <a:t>SiNx</a:t>
            </a:r>
            <a:r>
              <a:rPr lang="es-ES" b="1" dirty="0">
                <a:solidFill>
                  <a:srgbClr val="FF0000"/>
                </a:solidFill>
                <a:effectLst/>
                <a:latin typeface="Menlo" panose="020B0609030804020204" pitchFamily="49" charset="0"/>
              </a:rPr>
              <a:t>:                                   SOI:</a:t>
            </a:r>
            <a:endParaRPr lang="es-ES" b="0" dirty="0">
              <a:solidFill>
                <a:srgbClr val="FF0000"/>
              </a:solidFill>
              <a:effectLst/>
              <a:latin typeface="Menlo" panose="020B0609030804020204" pitchFamily="49" charset="0"/>
            </a:endParaRPr>
          </a:p>
        </p:txBody>
      </p:sp>
      <p:pic>
        <p:nvPicPr>
          <p:cNvPr id="12" name="Imagen 11">
            <a:extLst>
              <a:ext uri="{FF2B5EF4-FFF2-40B4-BE49-F238E27FC236}">
                <a16:creationId xmlns:a16="http://schemas.microsoft.com/office/drawing/2014/main" id="{D9039163-45A2-56F9-150D-DB5C6BDD8B6A}"/>
              </a:ext>
            </a:extLst>
          </p:cNvPr>
          <p:cNvPicPr>
            <a:picLocks noChangeAspect="1"/>
          </p:cNvPicPr>
          <p:nvPr/>
        </p:nvPicPr>
        <p:blipFill>
          <a:blip r:embed="rId2"/>
          <a:stretch>
            <a:fillRect/>
          </a:stretch>
        </p:blipFill>
        <p:spPr>
          <a:xfrm>
            <a:off x="7162800" y="1057662"/>
            <a:ext cx="3657600" cy="2882900"/>
          </a:xfrm>
          <a:prstGeom prst="rect">
            <a:avLst/>
          </a:prstGeom>
        </p:spPr>
      </p:pic>
      <p:pic>
        <p:nvPicPr>
          <p:cNvPr id="13" name="Imagen 12">
            <a:extLst>
              <a:ext uri="{FF2B5EF4-FFF2-40B4-BE49-F238E27FC236}">
                <a16:creationId xmlns:a16="http://schemas.microsoft.com/office/drawing/2014/main" id="{481BA2CA-B9B1-317E-72C9-D600829A02BC}"/>
              </a:ext>
            </a:extLst>
          </p:cNvPr>
          <p:cNvPicPr>
            <a:picLocks noChangeAspect="1"/>
          </p:cNvPicPr>
          <p:nvPr/>
        </p:nvPicPr>
        <p:blipFill>
          <a:blip r:embed="rId3"/>
          <a:stretch>
            <a:fillRect/>
          </a:stretch>
        </p:blipFill>
        <p:spPr>
          <a:xfrm>
            <a:off x="7162800" y="3940562"/>
            <a:ext cx="3657600" cy="2882900"/>
          </a:xfrm>
          <a:prstGeom prst="rect">
            <a:avLst/>
          </a:prstGeom>
        </p:spPr>
      </p:pic>
      <p:pic>
        <p:nvPicPr>
          <p:cNvPr id="14" name="Imagen 13">
            <a:extLst>
              <a:ext uri="{FF2B5EF4-FFF2-40B4-BE49-F238E27FC236}">
                <a16:creationId xmlns:a16="http://schemas.microsoft.com/office/drawing/2014/main" id="{CA065B2A-241F-D918-07A3-7386672F9A0B}"/>
              </a:ext>
            </a:extLst>
          </p:cNvPr>
          <p:cNvPicPr>
            <a:picLocks noChangeAspect="1"/>
          </p:cNvPicPr>
          <p:nvPr/>
        </p:nvPicPr>
        <p:blipFill>
          <a:blip r:embed="rId4"/>
          <a:stretch>
            <a:fillRect/>
          </a:stretch>
        </p:blipFill>
        <p:spPr>
          <a:xfrm>
            <a:off x="2080046" y="1057662"/>
            <a:ext cx="3708400" cy="2882900"/>
          </a:xfrm>
          <a:prstGeom prst="rect">
            <a:avLst/>
          </a:prstGeom>
        </p:spPr>
      </p:pic>
      <p:pic>
        <p:nvPicPr>
          <p:cNvPr id="15" name="Imagen 14">
            <a:extLst>
              <a:ext uri="{FF2B5EF4-FFF2-40B4-BE49-F238E27FC236}">
                <a16:creationId xmlns:a16="http://schemas.microsoft.com/office/drawing/2014/main" id="{10CC0DD8-F780-3BB4-C8FC-160D738BB4A5}"/>
              </a:ext>
            </a:extLst>
          </p:cNvPr>
          <p:cNvPicPr>
            <a:picLocks noChangeAspect="1"/>
          </p:cNvPicPr>
          <p:nvPr/>
        </p:nvPicPr>
        <p:blipFill>
          <a:blip r:embed="rId5"/>
          <a:stretch>
            <a:fillRect/>
          </a:stretch>
        </p:blipFill>
        <p:spPr>
          <a:xfrm>
            <a:off x="2028946" y="3940562"/>
            <a:ext cx="3759200" cy="2882900"/>
          </a:xfrm>
          <a:prstGeom prst="rect">
            <a:avLst/>
          </a:prstGeom>
        </p:spPr>
      </p:pic>
    </p:spTree>
    <p:extLst>
      <p:ext uri="{BB962C8B-B14F-4D97-AF65-F5344CB8AC3E}">
        <p14:creationId xmlns:p14="http://schemas.microsoft.com/office/powerpoint/2010/main" val="528500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1D11-1116-9BF0-5ACF-BCF47CBA1E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9519B8-82B9-69B7-53AF-CF2ECC3D4753}"/>
              </a:ext>
            </a:extLst>
          </p:cNvPr>
          <p:cNvSpPr>
            <a:spLocks noGrp="1"/>
          </p:cNvSpPr>
          <p:nvPr>
            <p:ph type="title"/>
          </p:nvPr>
        </p:nvSpPr>
        <p:spPr>
          <a:xfrm>
            <a:off x="295275" y="216277"/>
            <a:ext cx="10991850" cy="307777"/>
          </a:xfrm>
        </p:spPr>
        <p:txBody>
          <a:bodyPr/>
          <a:lstStyle/>
          <a:p>
            <a:r>
              <a:rPr lang="es-ES" dirty="0" err="1"/>
              <a:t>Comments</a:t>
            </a:r>
            <a:r>
              <a:rPr lang="es-ES" dirty="0"/>
              <a:t> </a:t>
            </a:r>
            <a:r>
              <a:rPr lang="es-ES" dirty="0" err="1"/>
              <a:t>on</a:t>
            </a:r>
            <a:r>
              <a:rPr lang="es-ES" dirty="0"/>
              <a:t> </a:t>
            </a:r>
            <a:r>
              <a:rPr lang="es-ES" dirty="0" err="1"/>
              <a:t>the</a:t>
            </a:r>
            <a:r>
              <a:rPr lang="es-ES" dirty="0"/>
              <a:t> extra: </a:t>
            </a:r>
            <a:r>
              <a:rPr lang="es-ES" dirty="0" err="1"/>
              <a:t>comparison</a:t>
            </a:r>
            <a:r>
              <a:rPr lang="es-ES" dirty="0"/>
              <a:t> </a:t>
            </a:r>
            <a:r>
              <a:rPr lang="es-ES" dirty="0" err="1"/>
              <a:t>between</a:t>
            </a:r>
            <a:r>
              <a:rPr lang="es-ES" dirty="0"/>
              <a:t> </a:t>
            </a:r>
            <a:r>
              <a:rPr lang="es-ES" dirty="0" err="1"/>
              <a:t>the</a:t>
            </a:r>
            <a:r>
              <a:rPr lang="es-ES" dirty="0"/>
              <a:t> </a:t>
            </a:r>
            <a:r>
              <a:rPr lang="es-ES" dirty="0" err="1"/>
              <a:t>two</a:t>
            </a:r>
            <a:r>
              <a:rPr lang="es-ES" dirty="0"/>
              <a:t> </a:t>
            </a:r>
            <a:r>
              <a:rPr lang="es-ES" dirty="0" err="1"/>
              <a:t>technologies</a:t>
            </a:r>
            <a:endParaRPr lang="es-ES" dirty="0"/>
          </a:p>
        </p:txBody>
      </p:sp>
      <p:sp>
        <p:nvSpPr>
          <p:cNvPr id="3" name="Marcador de texto 2">
            <a:extLst>
              <a:ext uri="{FF2B5EF4-FFF2-40B4-BE49-F238E27FC236}">
                <a16:creationId xmlns:a16="http://schemas.microsoft.com/office/drawing/2014/main" id="{56C2F18F-EE41-CEE7-1ED5-B079BCA52DE1}"/>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9CF620A3-56A1-7BD1-7418-423871279D2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1BEA8E00-D445-0920-0F4B-954D12381B7A}"/>
              </a:ext>
            </a:extLst>
          </p:cNvPr>
          <p:cNvSpPr>
            <a:spLocks noGrp="1"/>
          </p:cNvSpPr>
          <p:nvPr>
            <p:ph type="sldNum" sz="quarter" idx="7"/>
          </p:nvPr>
        </p:nvSpPr>
        <p:spPr/>
        <p:txBody>
          <a:bodyPr/>
          <a:lstStyle/>
          <a:p>
            <a:fld id="{B6F15528-21DE-4FAA-801E-634DDDAF4B2B}" type="slidenum">
              <a:rPr lang="es-ES" smtClean="0"/>
              <a:t>10</a:t>
            </a:fld>
            <a:endParaRPr lang="es-ES"/>
          </a:p>
        </p:txBody>
      </p:sp>
      <p:pic>
        <p:nvPicPr>
          <p:cNvPr id="6" name="Imagen 5">
            <a:extLst>
              <a:ext uri="{FF2B5EF4-FFF2-40B4-BE49-F238E27FC236}">
                <a16:creationId xmlns:a16="http://schemas.microsoft.com/office/drawing/2014/main" id="{7D6CDB95-C402-FBF4-A078-F937CFA66003}"/>
              </a:ext>
            </a:extLst>
          </p:cNvPr>
          <p:cNvPicPr>
            <a:picLocks noChangeAspect="1"/>
          </p:cNvPicPr>
          <p:nvPr/>
        </p:nvPicPr>
        <p:blipFill>
          <a:blip r:embed="rId2"/>
          <a:stretch>
            <a:fillRect/>
          </a:stretch>
        </p:blipFill>
        <p:spPr>
          <a:xfrm>
            <a:off x="6570842" y="1118783"/>
            <a:ext cx="4950720" cy="2750400"/>
          </a:xfrm>
          <a:prstGeom prst="rect">
            <a:avLst/>
          </a:prstGeom>
        </p:spPr>
      </p:pic>
      <p:pic>
        <p:nvPicPr>
          <p:cNvPr id="7" name="Imagen 6">
            <a:extLst>
              <a:ext uri="{FF2B5EF4-FFF2-40B4-BE49-F238E27FC236}">
                <a16:creationId xmlns:a16="http://schemas.microsoft.com/office/drawing/2014/main" id="{A86EE340-02A0-A324-85D7-A44668E00957}"/>
              </a:ext>
            </a:extLst>
          </p:cNvPr>
          <p:cNvPicPr>
            <a:picLocks noChangeAspect="1"/>
          </p:cNvPicPr>
          <p:nvPr/>
        </p:nvPicPr>
        <p:blipFill>
          <a:blip r:embed="rId3"/>
          <a:stretch>
            <a:fillRect/>
          </a:stretch>
        </p:blipFill>
        <p:spPr>
          <a:xfrm>
            <a:off x="7239000" y="3867986"/>
            <a:ext cx="3733800" cy="2882900"/>
          </a:xfrm>
          <a:prstGeom prst="rect">
            <a:avLst/>
          </a:prstGeom>
        </p:spPr>
      </p:pic>
      <p:pic>
        <p:nvPicPr>
          <p:cNvPr id="8" name="Imagen 7">
            <a:extLst>
              <a:ext uri="{FF2B5EF4-FFF2-40B4-BE49-F238E27FC236}">
                <a16:creationId xmlns:a16="http://schemas.microsoft.com/office/drawing/2014/main" id="{F3646859-6398-3B9F-8EEA-DB18983F841C}"/>
              </a:ext>
            </a:extLst>
          </p:cNvPr>
          <p:cNvPicPr>
            <a:picLocks noChangeAspect="1"/>
          </p:cNvPicPr>
          <p:nvPr/>
        </p:nvPicPr>
        <p:blipFill>
          <a:blip r:embed="rId4"/>
          <a:stretch>
            <a:fillRect/>
          </a:stretch>
        </p:blipFill>
        <p:spPr>
          <a:xfrm>
            <a:off x="1093177" y="1118783"/>
            <a:ext cx="4994088" cy="2748503"/>
          </a:xfrm>
          <a:prstGeom prst="rect">
            <a:avLst/>
          </a:prstGeom>
        </p:spPr>
      </p:pic>
      <p:pic>
        <p:nvPicPr>
          <p:cNvPr id="9" name="Imagen 8">
            <a:extLst>
              <a:ext uri="{FF2B5EF4-FFF2-40B4-BE49-F238E27FC236}">
                <a16:creationId xmlns:a16="http://schemas.microsoft.com/office/drawing/2014/main" id="{4303F2A9-150A-DCBE-E1EC-185D8E1B68F1}"/>
              </a:ext>
            </a:extLst>
          </p:cNvPr>
          <p:cNvPicPr>
            <a:picLocks noChangeAspect="1"/>
          </p:cNvPicPr>
          <p:nvPr/>
        </p:nvPicPr>
        <p:blipFill>
          <a:blip r:embed="rId5"/>
          <a:stretch>
            <a:fillRect/>
          </a:stretch>
        </p:blipFill>
        <p:spPr>
          <a:xfrm>
            <a:off x="1627887" y="3867286"/>
            <a:ext cx="3658488" cy="2883600"/>
          </a:xfrm>
          <a:prstGeom prst="rect">
            <a:avLst/>
          </a:prstGeom>
        </p:spPr>
      </p:pic>
      <p:sp>
        <p:nvSpPr>
          <p:cNvPr id="11" name="CuadroTexto 10">
            <a:extLst>
              <a:ext uri="{FF2B5EF4-FFF2-40B4-BE49-F238E27FC236}">
                <a16:creationId xmlns:a16="http://schemas.microsoft.com/office/drawing/2014/main" id="{8F45D516-1E14-F8CD-2313-D0A19FB63F3D}"/>
              </a:ext>
            </a:extLst>
          </p:cNvPr>
          <p:cNvSpPr txBox="1"/>
          <p:nvPr/>
        </p:nvSpPr>
        <p:spPr>
          <a:xfrm>
            <a:off x="3186334" y="774571"/>
            <a:ext cx="6414866" cy="283091"/>
          </a:xfrm>
          <a:prstGeom prst="rect">
            <a:avLst/>
          </a:prstGeom>
          <a:noFill/>
        </p:spPr>
        <p:txBody>
          <a:bodyPr wrap="square">
            <a:spAutoFit/>
          </a:bodyPr>
          <a:lstStyle/>
          <a:p>
            <a:pPr>
              <a:lnSpc>
                <a:spcPts val="1350"/>
              </a:lnSpc>
              <a:buNone/>
            </a:pPr>
            <a:r>
              <a:rPr lang="es-ES" b="1" dirty="0" err="1">
                <a:solidFill>
                  <a:srgbClr val="FF0000"/>
                </a:solidFill>
                <a:effectLst/>
                <a:latin typeface="Menlo" panose="020B0609030804020204" pitchFamily="49" charset="0"/>
              </a:rPr>
              <a:t>SiNx</a:t>
            </a:r>
            <a:r>
              <a:rPr lang="es-ES" b="1" dirty="0">
                <a:solidFill>
                  <a:srgbClr val="FF0000"/>
                </a:solidFill>
                <a:effectLst/>
                <a:latin typeface="Menlo" panose="020B0609030804020204" pitchFamily="49" charset="0"/>
              </a:rPr>
              <a:t>:                                   SOI:</a:t>
            </a:r>
            <a:endParaRPr lang="es-ES" b="0" dirty="0">
              <a:solidFill>
                <a:srgbClr val="FF0000"/>
              </a:solidFill>
              <a:effectLst/>
              <a:latin typeface="Menlo" panose="020B0609030804020204" pitchFamily="49" charset="0"/>
            </a:endParaRPr>
          </a:p>
        </p:txBody>
      </p:sp>
    </p:spTree>
    <p:extLst>
      <p:ext uri="{BB962C8B-B14F-4D97-AF65-F5344CB8AC3E}">
        <p14:creationId xmlns:p14="http://schemas.microsoft.com/office/powerpoint/2010/main" val="3610494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312B1-304D-C3D4-D45A-81B8998F3B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3CFC9E-CB06-23A6-5106-B399906B1001}"/>
              </a:ext>
            </a:extLst>
          </p:cNvPr>
          <p:cNvSpPr>
            <a:spLocks noGrp="1"/>
          </p:cNvSpPr>
          <p:nvPr>
            <p:ph type="title"/>
          </p:nvPr>
        </p:nvSpPr>
        <p:spPr>
          <a:xfrm>
            <a:off x="295275" y="216277"/>
            <a:ext cx="10991850" cy="307777"/>
          </a:xfrm>
        </p:spPr>
        <p:txBody>
          <a:bodyPr/>
          <a:lstStyle/>
          <a:p>
            <a:r>
              <a:rPr lang="es-ES" dirty="0" err="1"/>
              <a:t>Comments</a:t>
            </a:r>
            <a:r>
              <a:rPr lang="es-ES" dirty="0"/>
              <a:t> </a:t>
            </a:r>
            <a:r>
              <a:rPr lang="es-ES" dirty="0" err="1"/>
              <a:t>on</a:t>
            </a:r>
            <a:r>
              <a:rPr lang="es-ES" dirty="0"/>
              <a:t> </a:t>
            </a:r>
            <a:r>
              <a:rPr lang="es-ES" dirty="0" err="1"/>
              <a:t>the</a:t>
            </a:r>
            <a:r>
              <a:rPr lang="es-ES" dirty="0"/>
              <a:t> extra: </a:t>
            </a:r>
            <a:r>
              <a:rPr lang="es-ES" dirty="0" err="1"/>
              <a:t>comparison</a:t>
            </a:r>
            <a:r>
              <a:rPr lang="es-ES" dirty="0"/>
              <a:t> </a:t>
            </a:r>
            <a:r>
              <a:rPr lang="es-ES" dirty="0" err="1"/>
              <a:t>between</a:t>
            </a:r>
            <a:r>
              <a:rPr lang="es-ES" dirty="0"/>
              <a:t> </a:t>
            </a:r>
            <a:r>
              <a:rPr lang="es-ES" dirty="0" err="1"/>
              <a:t>the</a:t>
            </a:r>
            <a:r>
              <a:rPr lang="es-ES" dirty="0"/>
              <a:t> </a:t>
            </a:r>
            <a:r>
              <a:rPr lang="es-ES" dirty="0" err="1"/>
              <a:t>two</a:t>
            </a:r>
            <a:r>
              <a:rPr lang="es-ES" dirty="0"/>
              <a:t> </a:t>
            </a:r>
            <a:r>
              <a:rPr lang="es-ES" dirty="0" err="1"/>
              <a:t>technologies</a:t>
            </a:r>
            <a:endParaRPr lang="es-ES" dirty="0"/>
          </a:p>
        </p:txBody>
      </p:sp>
      <p:sp>
        <p:nvSpPr>
          <p:cNvPr id="3" name="Marcador de texto 2">
            <a:extLst>
              <a:ext uri="{FF2B5EF4-FFF2-40B4-BE49-F238E27FC236}">
                <a16:creationId xmlns:a16="http://schemas.microsoft.com/office/drawing/2014/main" id="{78219F5E-8DA4-6923-CF6F-5D769BB5CF0F}"/>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5CF11773-B81F-7136-3902-228EECBCF20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15CF185B-4BFD-65F9-90CC-67276F0EF5F2}"/>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11" name="CuadroTexto 10">
            <a:extLst>
              <a:ext uri="{FF2B5EF4-FFF2-40B4-BE49-F238E27FC236}">
                <a16:creationId xmlns:a16="http://schemas.microsoft.com/office/drawing/2014/main" id="{BA6D42B0-7603-FF59-D354-E7E96861321D}"/>
              </a:ext>
            </a:extLst>
          </p:cNvPr>
          <p:cNvSpPr txBox="1"/>
          <p:nvPr/>
        </p:nvSpPr>
        <p:spPr>
          <a:xfrm>
            <a:off x="2362200" y="886814"/>
            <a:ext cx="8153400" cy="283091"/>
          </a:xfrm>
          <a:prstGeom prst="rect">
            <a:avLst/>
          </a:prstGeom>
          <a:noFill/>
        </p:spPr>
        <p:txBody>
          <a:bodyPr wrap="square">
            <a:spAutoFit/>
          </a:bodyPr>
          <a:lstStyle/>
          <a:p>
            <a:pPr>
              <a:lnSpc>
                <a:spcPts val="1350"/>
              </a:lnSpc>
              <a:buNone/>
            </a:pPr>
            <a:r>
              <a:rPr lang="es-ES" b="1" dirty="0" err="1">
                <a:solidFill>
                  <a:srgbClr val="FF0000"/>
                </a:solidFill>
                <a:effectLst/>
                <a:latin typeface="Menlo" panose="020B0609030804020204" pitchFamily="49" charset="0"/>
              </a:rPr>
              <a:t>SiNx</a:t>
            </a:r>
            <a:r>
              <a:rPr lang="es-ES" b="1" dirty="0">
                <a:solidFill>
                  <a:srgbClr val="FF0000"/>
                </a:solidFill>
                <a:effectLst/>
                <a:latin typeface="Menlo" panose="020B0609030804020204" pitchFamily="49" charset="0"/>
              </a:rPr>
              <a:t>:                                       SOI:</a:t>
            </a:r>
            <a:endParaRPr lang="es-ES" b="0" dirty="0">
              <a:solidFill>
                <a:srgbClr val="FF0000"/>
              </a:solidFill>
              <a:effectLst/>
              <a:latin typeface="Menlo" panose="020B0609030804020204" pitchFamily="49" charset="0"/>
            </a:endParaRPr>
          </a:p>
        </p:txBody>
      </p:sp>
      <p:pic>
        <p:nvPicPr>
          <p:cNvPr id="10" name="Imagen 9">
            <a:extLst>
              <a:ext uri="{FF2B5EF4-FFF2-40B4-BE49-F238E27FC236}">
                <a16:creationId xmlns:a16="http://schemas.microsoft.com/office/drawing/2014/main" id="{28B19C41-AFA9-0DC7-38FA-0BE53CB5B626}"/>
              </a:ext>
            </a:extLst>
          </p:cNvPr>
          <p:cNvPicPr>
            <a:picLocks noChangeAspect="1"/>
          </p:cNvPicPr>
          <p:nvPr/>
        </p:nvPicPr>
        <p:blipFill>
          <a:blip r:embed="rId2"/>
          <a:stretch>
            <a:fillRect/>
          </a:stretch>
        </p:blipFill>
        <p:spPr>
          <a:xfrm>
            <a:off x="5943600" y="1371600"/>
            <a:ext cx="6172200" cy="3585755"/>
          </a:xfrm>
          <a:prstGeom prst="rect">
            <a:avLst/>
          </a:prstGeom>
        </p:spPr>
      </p:pic>
      <p:pic>
        <p:nvPicPr>
          <p:cNvPr id="12" name="Imagen 11">
            <a:extLst>
              <a:ext uri="{FF2B5EF4-FFF2-40B4-BE49-F238E27FC236}">
                <a16:creationId xmlns:a16="http://schemas.microsoft.com/office/drawing/2014/main" id="{37CB144D-3D6A-D8E6-F37C-EEDA024D7B92}"/>
              </a:ext>
            </a:extLst>
          </p:cNvPr>
          <p:cNvPicPr>
            <a:picLocks noChangeAspect="1"/>
          </p:cNvPicPr>
          <p:nvPr/>
        </p:nvPicPr>
        <p:blipFill>
          <a:blip r:embed="rId3"/>
          <a:stretch>
            <a:fillRect/>
          </a:stretch>
        </p:blipFill>
        <p:spPr>
          <a:xfrm>
            <a:off x="53054" y="1371600"/>
            <a:ext cx="6042946" cy="3510664"/>
          </a:xfrm>
          <a:prstGeom prst="rect">
            <a:avLst/>
          </a:prstGeom>
        </p:spPr>
      </p:pic>
    </p:spTree>
    <p:extLst>
      <p:ext uri="{BB962C8B-B14F-4D97-AF65-F5344CB8AC3E}">
        <p14:creationId xmlns:p14="http://schemas.microsoft.com/office/powerpoint/2010/main" val="192056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7C36E-A521-2A21-3823-0E2854E687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022747E-D913-9AA2-753B-C8336B3ADCA4}"/>
              </a:ext>
            </a:extLst>
          </p:cNvPr>
          <p:cNvSpPr>
            <a:spLocks noGrp="1"/>
          </p:cNvSpPr>
          <p:nvPr>
            <p:ph type="title"/>
          </p:nvPr>
        </p:nvSpPr>
        <p:spPr>
          <a:xfrm>
            <a:off x="295275" y="216277"/>
            <a:ext cx="10991850" cy="307777"/>
          </a:xfrm>
        </p:spPr>
        <p:txBody>
          <a:bodyPr/>
          <a:lstStyle/>
          <a:p>
            <a:r>
              <a:rPr lang="es-ES" dirty="0" err="1"/>
              <a:t>Comments</a:t>
            </a:r>
            <a:r>
              <a:rPr lang="es-ES" dirty="0"/>
              <a:t> </a:t>
            </a:r>
            <a:r>
              <a:rPr lang="es-ES" dirty="0" err="1"/>
              <a:t>on</a:t>
            </a:r>
            <a:r>
              <a:rPr lang="es-ES" dirty="0"/>
              <a:t> </a:t>
            </a:r>
            <a:r>
              <a:rPr lang="es-ES" dirty="0" err="1"/>
              <a:t>the</a:t>
            </a:r>
            <a:r>
              <a:rPr lang="es-ES" dirty="0"/>
              <a:t> extra: </a:t>
            </a:r>
            <a:r>
              <a:rPr lang="es-ES" dirty="0" err="1"/>
              <a:t>comparison</a:t>
            </a:r>
            <a:r>
              <a:rPr lang="es-ES" dirty="0"/>
              <a:t> </a:t>
            </a:r>
            <a:r>
              <a:rPr lang="es-ES" dirty="0" err="1"/>
              <a:t>between</a:t>
            </a:r>
            <a:r>
              <a:rPr lang="es-ES" dirty="0"/>
              <a:t> </a:t>
            </a:r>
            <a:r>
              <a:rPr lang="es-ES" dirty="0" err="1"/>
              <a:t>the</a:t>
            </a:r>
            <a:r>
              <a:rPr lang="es-ES" dirty="0"/>
              <a:t> </a:t>
            </a:r>
            <a:r>
              <a:rPr lang="es-ES" dirty="0" err="1"/>
              <a:t>two</a:t>
            </a:r>
            <a:r>
              <a:rPr lang="es-ES" dirty="0"/>
              <a:t> </a:t>
            </a:r>
            <a:r>
              <a:rPr lang="es-ES" dirty="0" err="1"/>
              <a:t>technologies</a:t>
            </a:r>
            <a:endParaRPr lang="es-ES" dirty="0"/>
          </a:p>
        </p:txBody>
      </p:sp>
      <p:sp>
        <p:nvSpPr>
          <p:cNvPr id="3" name="Marcador de texto 2">
            <a:extLst>
              <a:ext uri="{FF2B5EF4-FFF2-40B4-BE49-F238E27FC236}">
                <a16:creationId xmlns:a16="http://schemas.microsoft.com/office/drawing/2014/main" id="{1BA6135C-912D-6B0A-DC9A-CD7B4160FABA}"/>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5496EF87-4399-72E2-F592-1A4AFDCDCFE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A93E5B56-8F9B-3393-4EA1-939C740E6A46}"/>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7" name="Rectangle 1">
            <a:extLst>
              <a:ext uri="{FF2B5EF4-FFF2-40B4-BE49-F238E27FC236}">
                <a16:creationId xmlns:a16="http://schemas.microsoft.com/office/drawing/2014/main" id="{6CDF7FAF-23C6-A5E8-7854-6649CDCFDC55}"/>
              </a:ext>
            </a:extLst>
          </p:cNvPr>
          <p:cNvSpPr>
            <a:spLocks noChangeArrowheads="1"/>
          </p:cNvSpPr>
          <p:nvPr/>
        </p:nvSpPr>
        <p:spPr bwMode="auto">
          <a:xfrm>
            <a:off x="228600" y="914400"/>
            <a:ext cx="11591926"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panose="020B0604020202020204" pitchFamily="34" charset="0"/>
              </a:rPr>
              <a:t>A 1550 nm, la principal diferencia entre </a:t>
            </a:r>
            <a:r>
              <a:rPr kumimoji="0" lang="es-ES" altLang="es-ES" sz="1600" b="0" i="0" u="none" strike="noStrike" cap="none" normalizeH="0" baseline="0" dirty="0" err="1">
                <a:ln>
                  <a:noFill/>
                </a:ln>
                <a:solidFill>
                  <a:srgbClr val="000000"/>
                </a:solidFill>
                <a:effectLst/>
                <a:latin typeface="Arial" panose="020B0604020202020204" pitchFamily="34" charset="0"/>
              </a:rPr>
              <a:t>SiNx</a:t>
            </a:r>
            <a:r>
              <a:rPr kumimoji="0" lang="es-ES" altLang="es-ES" sz="1600" b="0" i="0" u="none" strike="noStrike" cap="none" normalizeH="0" baseline="0" dirty="0">
                <a:ln>
                  <a:noFill/>
                </a:ln>
                <a:solidFill>
                  <a:srgbClr val="000000"/>
                </a:solidFill>
                <a:effectLst/>
                <a:latin typeface="Arial" panose="020B0604020202020204" pitchFamily="34" charset="0"/>
              </a:rPr>
              <a:t> y SOI viene determinada por el contraste de índice (una diferencia de 0.5 para </a:t>
            </a:r>
            <a:r>
              <a:rPr kumimoji="0" lang="es-ES" altLang="es-ES" sz="1600" b="0" i="0" u="none" strike="noStrike" cap="none" normalizeH="0" baseline="0" dirty="0" err="1">
                <a:ln>
                  <a:noFill/>
                </a:ln>
                <a:solidFill>
                  <a:srgbClr val="000000"/>
                </a:solidFill>
                <a:effectLst/>
                <a:latin typeface="Arial" panose="020B0604020202020204" pitchFamily="34" charset="0"/>
              </a:rPr>
              <a:t>SiNx</a:t>
            </a:r>
            <a:r>
              <a:rPr kumimoji="0" lang="es-ES" altLang="es-ES" sz="1600" b="0" i="0" u="none" strike="noStrike" cap="none" normalizeH="0" baseline="0" dirty="0">
                <a:ln>
                  <a:noFill/>
                </a:ln>
                <a:solidFill>
                  <a:srgbClr val="000000"/>
                </a:solidFill>
                <a:effectLst/>
                <a:latin typeface="Arial" panose="020B0604020202020204" pitchFamily="34" charset="0"/>
              </a:rPr>
              <a:t> y de 2 para SOI aproximadamente). En </a:t>
            </a:r>
            <a:r>
              <a:rPr kumimoji="0" lang="es-ES" altLang="es-ES" sz="1600" b="0" i="0" u="none" strike="noStrike" cap="none" normalizeH="0" baseline="0" dirty="0" err="1">
                <a:ln>
                  <a:noFill/>
                </a:ln>
                <a:solidFill>
                  <a:srgbClr val="000000"/>
                </a:solidFill>
                <a:effectLst/>
                <a:latin typeface="Arial" panose="020B0604020202020204" pitchFamily="34" charset="0"/>
              </a:rPr>
              <a:t>SiNx</a:t>
            </a:r>
            <a:r>
              <a:rPr kumimoji="0" lang="es-ES" altLang="es-ES" sz="1600" b="0" i="0" u="none" strike="noStrike" cap="none" normalizeH="0" baseline="0" dirty="0">
                <a:ln>
                  <a:noFill/>
                </a:ln>
                <a:solidFill>
                  <a:srgbClr val="000000"/>
                </a:solidFill>
                <a:effectLst/>
                <a:latin typeface="Arial" panose="020B0604020202020204" pitchFamily="34" charset="0"/>
              </a:rPr>
              <a:t> (contraste moderado con </a:t>
            </a:r>
            <a:r>
              <a:rPr kumimoji="0" lang="es-ES" altLang="es-ES" sz="1600" b="0" i="0" u="none" strike="noStrike" cap="none" normalizeH="0" baseline="0" dirty="0" err="1">
                <a:ln>
                  <a:noFill/>
                </a:ln>
                <a:solidFill>
                  <a:srgbClr val="000000"/>
                </a:solidFill>
                <a:effectLst/>
                <a:latin typeface="Arial" panose="020B0604020202020204" pitchFamily="34" charset="0"/>
              </a:rPr>
              <a:t>SiO</a:t>
            </a:r>
            <a:r>
              <a:rPr kumimoji="0" lang="es-ES" altLang="es-ES" sz="1600" b="0" i="0" u="none" strike="noStrike" cap="none" normalizeH="0" baseline="0" dirty="0">
                <a:ln>
                  <a:noFill/>
                </a:ln>
                <a:solidFill>
                  <a:srgbClr val="000000"/>
                </a:solidFill>
                <a:effectLst/>
                <a:latin typeface="Arial" panose="020B0604020202020204" pitchFamily="34" charset="0"/>
              </a:rPr>
              <a:t>₂), el confinamiento es más débil, los valores de </a:t>
            </a:r>
            <a:r>
              <a:rPr kumimoji="0" lang="es-ES" altLang="es-ES" sz="1600" b="0" i="0" u="none" strike="noStrike" cap="none" normalizeH="0" baseline="0" dirty="0" err="1">
                <a:ln>
                  <a:noFill/>
                </a:ln>
                <a:solidFill>
                  <a:srgbClr val="000000"/>
                </a:solidFill>
                <a:effectLst/>
                <a:latin typeface="Arial" panose="020B0604020202020204" pitchFamily="34" charset="0"/>
              </a:rPr>
              <a:t>neff</a:t>
            </a:r>
            <a:r>
              <a:rPr kumimoji="0" lang="es-ES" altLang="es-ES" sz="1600" b="0" i="0" u="none" strike="noStrike" cap="none" normalizeH="0" baseline="0" dirty="0">
                <a:ln>
                  <a:noFill/>
                </a:ln>
                <a:solidFill>
                  <a:srgbClr val="000000"/>
                </a:solidFill>
                <a:effectLst/>
                <a:latin typeface="Arial" panose="020B0604020202020204" pitchFamily="34" charset="0"/>
              </a:rPr>
              <a:t> son más bajos y el modo ocupa una región más extensa. Esto hace que la guía sea menos sensible a variaciones geométricas, pero más sensible a la curvatura: se necesitan radios ≥ 50 µm para mantener pérdidas por debajo de 0.1 dB/90°.</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panose="020B0604020202020204" pitchFamily="34" charset="0"/>
              </a:rPr>
              <a:t>En SOI, el alto contraste Si/</a:t>
            </a:r>
            <a:r>
              <a:rPr kumimoji="0" lang="es-ES" altLang="es-ES" sz="1600" b="0" i="0" u="none" strike="noStrike" cap="none" normalizeH="0" baseline="0" dirty="0" err="1">
                <a:ln>
                  <a:noFill/>
                </a:ln>
                <a:solidFill>
                  <a:srgbClr val="000000"/>
                </a:solidFill>
                <a:effectLst/>
                <a:latin typeface="Arial" panose="020B0604020202020204" pitchFamily="34" charset="0"/>
              </a:rPr>
              <a:t>SiO</a:t>
            </a:r>
            <a:r>
              <a:rPr kumimoji="0" lang="es-ES" altLang="es-ES" sz="1600" b="0" i="0" u="none" strike="noStrike" cap="none" normalizeH="0" baseline="0" dirty="0">
                <a:ln>
                  <a:noFill/>
                </a:ln>
                <a:solidFill>
                  <a:srgbClr val="000000"/>
                </a:solidFill>
                <a:effectLst/>
                <a:latin typeface="Arial" panose="020B0604020202020204" pitchFamily="34" charset="0"/>
              </a:rPr>
              <a:t>₂ produce un confinamiento mucho más fuerte y valores de </a:t>
            </a:r>
            <a:r>
              <a:rPr kumimoji="0" lang="es-ES" altLang="es-ES" sz="1600" b="0" i="0" u="none" strike="noStrike" cap="none" normalizeH="0" baseline="0" dirty="0" err="1">
                <a:ln>
                  <a:noFill/>
                </a:ln>
                <a:solidFill>
                  <a:srgbClr val="000000"/>
                </a:solidFill>
                <a:effectLst/>
                <a:latin typeface="Arial" panose="020B0604020202020204" pitchFamily="34" charset="0"/>
              </a:rPr>
              <a:t>neff</a:t>
            </a:r>
            <a:r>
              <a:rPr kumimoji="0" lang="es-ES" altLang="es-ES" sz="1600" b="0" i="0" u="none" strike="noStrike" cap="none" normalizeH="0" baseline="0" dirty="0">
                <a:ln>
                  <a:noFill/>
                </a:ln>
                <a:solidFill>
                  <a:srgbClr val="000000"/>
                </a:solidFill>
                <a:effectLst/>
                <a:latin typeface="Arial" panose="020B0604020202020204" pitchFamily="34" charset="0"/>
              </a:rPr>
              <a:t> significativamente mayores. Como consecuencia, las pérdidas por curvatura son muy bajas incluso para radios del orden de pocos micrómetros, permitiendo dispositivos mucho más compactos. Sin embargo, esta misma fuerte confinación hace que la tecnología sea más sensible al ancho y más propensa a la aparición de modos superiores. El radio seguro para el SOI sería aproximadamente de 10 </a:t>
            </a:r>
            <a:r>
              <a:rPr kumimoji="0" lang="es-ES" altLang="es-ES" sz="1600" b="0" i="0" u="none" strike="noStrike" cap="none" normalizeH="0" baseline="0" dirty="0" err="1">
                <a:ln>
                  <a:noFill/>
                </a:ln>
                <a:solidFill>
                  <a:srgbClr val="000000"/>
                </a:solidFill>
                <a:effectLst/>
                <a:latin typeface="Arial" panose="020B0604020202020204" pitchFamily="34" charset="0"/>
              </a:rPr>
              <a:t>um</a:t>
            </a:r>
            <a:r>
              <a:rPr kumimoji="0" lang="es-ES" altLang="es-ES" sz="1600" b="0" i="0" u="none" strike="noStrike" cap="none" normalizeH="0" baseline="0" dirty="0">
                <a:ln>
                  <a:noFill/>
                </a:ln>
                <a:solidFill>
                  <a:srgbClr val="000000"/>
                </a:solidFill>
                <a:effectLst/>
                <a:latin typeface="Arial" panose="020B0604020202020204" pitchFamily="34" charset="0"/>
              </a:rPr>
              <a:t> mientras que para el </a:t>
            </a:r>
            <a:r>
              <a:rPr kumimoji="0" lang="es-ES" altLang="es-ES" sz="1600" b="0" i="0" u="none" strike="noStrike" cap="none" normalizeH="0" baseline="0" dirty="0" err="1">
                <a:ln>
                  <a:noFill/>
                </a:ln>
                <a:solidFill>
                  <a:srgbClr val="000000"/>
                </a:solidFill>
                <a:effectLst/>
                <a:latin typeface="Arial" panose="020B0604020202020204" pitchFamily="34" charset="0"/>
              </a:rPr>
              <a:t>SiNx</a:t>
            </a:r>
            <a:r>
              <a:rPr kumimoji="0" lang="es-ES" altLang="es-ES" sz="1600" b="0" i="0" u="none" strike="noStrike" cap="none" normalizeH="0" baseline="0" dirty="0">
                <a:ln>
                  <a:noFill/>
                </a:ln>
                <a:solidFill>
                  <a:srgbClr val="000000"/>
                </a:solidFill>
                <a:effectLst/>
                <a:latin typeface="Arial" panose="020B0604020202020204" pitchFamily="34" charset="0"/>
              </a:rPr>
              <a:t> sería de 75 </a:t>
            </a:r>
            <a:r>
              <a:rPr kumimoji="0" lang="es-ES" altLang="es-ES" sz="1600" b="0" i="0" u="none" strike="noStrike" cap="none" normalizeH="0" baseline="0" dirty="0" err="1">
                <a:ln>
                  <a:noFill/>
                </a:ln>
                <a:solidFill>
                  <a:srgbClr val="000000"/>
                </a:solidFill>
                <a:effectLst/>
                <a:latin typeface="Arial" panose="020B0604020202020204" pitchFamily="34" charset="0"/>
              </a:rPr>
              <a:t>um</a:t>
            </a:r>
            <a:r>
              <a:rPr kumimoji="0" lang="es-ES" altLang="es-ES" sz="1600" b="0" i="0" u="none" strike="noStrike" cap="none" normalizeH="0" baseline="0" dirty="0">
                <a:ln>
                  <a:noFill/>
                </a:ln>
                <a:solidFill>
                  <a:srgbClr val="000000"/>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lang="es-ES" altLang="es-ES" sz="1600" dirty="0">
              <a:solidFill>
                <a:srgbClr val="000000"/>
              </a:solidFill>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Arial" panose="020B0604020202020204" pitchFamily="34" charset="0"/>
              </a:rPr>
              <a:t>SiNx</a:t>
            </a:r>
            <a:r>
              <a:rPr kumimoji="0" lang="es-ES" altLang="es-ES" sz="1600" b="0" i="0" u="none" strike="noStrike" cap="none" normalizeH="0" baseline="0" dirty="0">
                <a:ln>
                  <a:noFill/>
                </a:ln>
                <a:solidFill>
                  <a:srgbClr val="000000"/>
                </a:solidFill>
                <a:effectLst/>
                <a:latin typeface="Arial" panose="020B0604020202020204" pitchFamily="34" charset="0"/>
              </a:rPr>
              <a:t> muestra una evolución modal suave: los modos aparecen de forma progresiva y el aumento de </a:t>
            </a:r>
            <a:r>
              <a:rPr kumimoji="0" lang="es-ES" altLang="es-ES" sz="1600" b="0" i="0" u="none" strike="noStrike" cap="none" normalizeH="0" baseline="0" dirty="0" err="1">
                <a:ln>
                  <a:noFill/>
                </a:ln>
                <a:solidFill>
                  <a:srgbClr val="000000"/>
                </a:solidFill>
                <a:effectLst/>
                <a:latin typeface="Arial" panose="020B0604020202020204" pitchFamily="34" charset="0"/>
              </a:rPr>
              <a:t>neff</a:t>
            </a:r>
            <a:r>
              <a:rPr kumimoji="0" lang="es-ES" altLang="es-ES" sz="1600" b="0" i="0" u="none" strike="noStrike" cap="none" normalizeH="0" baseline="0" dirty="0">
                <a:ln>
                  <a:noFill/>
                </a:ln>
                <a:solidFill>
                  <a:srgbClr val="000000"/>
                </a:solidFill>
                <a:effectLst/>
                <a:latin typeface="Arial" panose="020B0604020202020204" pitchFamily="34" charset="0"/>
              </a:rPr>
              <a:t> es gradual, lo que indica menor confinamiento. </a:t>
            </a:r>
            <a:r>
              <a:rPr lang="es-ES" altLang="es-ES" sz="1600" dirty="0">
                <a:solidFill>
                  <a:srgbClr val="000000"/>
                </a:solidFill>
              </a:rPr>
              <a:t>En SOI, el incremento de </a:t>
            </a:r>
            <a:r>
              <a:rPr lang="es-ES" altLang="es-ES" sz="1600" dirty="0" err="1">
                <a:solidFill>
                  <a:srgbClr val="000000"/>
                </a:solidFill>
              </a:rPr>
              <a:t>neff</a:t>
            </a:r>
            <a:r>
              <a:rPr lang="es-ES" altLang="es-ES" sz="1600" dirty="0">
                <a:solidFill>
                  <a:srgbClr val="000000"/>
                </a:solidFill>
              </a:rPr>
              <a:t> es mucho más fuerte y los modos superiores aparecen rápidamente, propagándose todos ellos, a diferencia de </a:t>
            </a:r>
            <a:r>
              <a:rPr lang="es-ES" altLang="es-ES" sz="1600" dirty="0" err="1">
                <a:solidFill>
                  <a:srgbClr val="000000"/>
                </a:solidFill>
              </a:rPr>
              <a:t>SiNx</a:t>
            </a:r>
            <a:r>
              <a:rPr lang="es-ES" altLang="es-ES" sz="1600" dirty="0">
                <a:solidFill>
                  <a:srgbClr val="000000"/>
                </a:solidFill>
              </a:rPr>
              <a:t>, en que solo se propagaban 2.</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Arial" panose="020B0604020202020204" pitchFamily="34" charset="0"/>
              </a:rPr>
              <a:t>En síntesis: </a:t>
            </a:r>
            <a:r>
              <a:rPr kumimoji="0" lang="es-ES" altLang="es-ES" sz="1600" b="0" i="0" u="none" strike="noStrike" cap="none" normalizeH="0" baseline="0" dirty="0" err="1">
                <a:ln>
                  <a:noFill/>
                </a:ln>
                <a:solidFill>
                  <a:srgbClr val="000000"/>
                </a:solidFill>
                <a:effectLst/>
                <a:latin typeface="Arial" panose="020B0604020202020204" pitchFamily="34" charset="0"/>
              </a:rPr>
              <a:t>SiNx</a:t>
            </a:r>
            <a:r>
              <a:rPr kumimoji="0" lang="es-ES" altLang="es-ES" sz="1600" b="0" i="0" u="none" strike="noStrike" cap="none" normalizeH="0" baseline="0" dirty="0">
                <a:ln>
                  <a:noFill/>
                </a:ln>
                <a:solidFill>
                  <a:srgbClr val="000000"/>
                </a:solidFill>
                <a:effectLst/>
                <a:latin typeface="Arial" panose="020B0604020202020204" pitchFamily="34" charset="0"/>
              </a:rPr>
              <a:t> ofrece mayor robustez y tolerancia geométrica; SOI ofrece máxima compacidad e integración a costa de mayor sensibilidad estructural.</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9657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1191</TotalTime>
  <Words>1401</Words>
  <Application>Microsoft Macintosh PowerPoint</Application>
  <PresentationFormat>Panorámica</PresentationFormat>
  <Paragraphs>143</Paragraphs>
  <Slides>13</Slides>
  <Notes>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13</vt:i4>
      </vt:variant>
    </vt:vector>
  </HeadingPairs>
  <TitlesOfParts>
    <vt:vector size="22" baseType="lpstr">
      <vt:lpstr>Aptos</vt:lpstr>
      <vt:lpstr>Arial</vt:lpstr>
      <vt:lpstr>Calibri</vt:lpstr>
      <vt:lpstr>Cambria Math</vt:lpstr>
      <vt:lpstr>Lucida Sans</vt:lpstr>
      <vt:lpstr>Menlo</vt:lpstr>
      <vt:lpstr>Times New Roman</vt:lpstr>
      <vt:lpstr>Wingdings</vt:lpstr>
      <vt:lpstr>Office Theme</vt:lpstr>
      <vt:lpstr>Presentación de PowerPoint</vt:lpstr>
      <vt:lpstr>Instructions General</vt:lpstr>
      <vt:lpstr>Learning outcome #1 – Convergence tests DE waveguide, w = 1.2 µm, neff_TE0, wvl 1.55 µm. </vt:lpstr>
      <vt:lpstr>Learning outcome #2 – Width dependence Width 0.6 - 1.6 µm (step 0.1 µm) – Wavelength 1.55 µm </vt:lpstr>
      <vt:lpstr>Learning outcome #3 – Waveguide compact model Let’s model the waveguide using a second order polynomial:  n_eff (λ)=n_1+n_2 (λ-λ_0 )+n_3 (λ-λ_0 )^2 </vt:lpstr>
      <vt:lpstr>Presentación de PowerPoint</vt:lpstr>
      <vt:lpstr>Learning outcome #4 – Bend waveguide radius vs. loss – deep Find  neff_TE0 for wvl 1.55 µm, width 1.0 µm for R=25,50,75,100, 125,150 µm </vt:lpstr>
      <vt:lpstr>Comments on Learning Outcome 4</vt:lpstr>
      <vt:lpstr>Comments on the extra: comparison between the two technologies</vt:lpstr>
      <vt:lpstr>Comments on the extra: comparison between the two technologies</vt:lpstr>
      <vt:lpstr>Comments on the extra: comparison between the two technologies</vt:lpstr>
      <vt:lpstr>Comments on the extra: comparison between the two technologies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 Pla Torro</cp:lastModifiedBy>
  <cp:revision>17</cp:revision>
  <dcterms:created xsi:type="dcterms:W3CDTF">2025-01-27T02:46:57Z</dcterms:created>
  <dcterms:modified xsi:type="dcterms:W3CDTF">2026-03-04T10:57:55Z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